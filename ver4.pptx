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comments/comment1.xml" ContentType="application/vnd.openxmlformats-officedocument.presentationml.comments+xml"/>
  <Override PartName="/ppt/notesSlides/notesSlide1.xml" ContentType="application/vnd.openxmlformats-officedocument.presentationml.notesSlide+xml"/>
  <Override PartName="/ppt/comments/comment2.xml" ContentType="application/vnd.openxmlformats-officedocument.presentationml.comments+xml"/>
  <Override PartName="/ppt/comments/comment3.xml" ContentType="application/vnd.openxmlformats-officedocument.presentationml.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comments/comment4.xml" ContentType="application/vnd.openxmlformats-officedocument.presentationml.comments+xml"/>
  <Override PartName="/ppt/comments/comment5.xml" ContentType="application/vnd.openxmlformats-officedocument.presentationml.comments+xml"/>
  <Override PartName="/ppt/comments/comment6.xml" ContentType="application/vnd.openxmlformats-officedocument.presentationml.comments+xml"/>
  <Override PartName="/ppt/comments/comment7.xml" ContentType="application/vnd.openxmlformats-officedocument.presentationml.comments+xml"/>
  <Override PartName="/ppt/comments/comment8.xml" ContentType="application/vnd.openxmlformats-officedocument.presentationml.comments+xml"/>
  <Override PartName="/ppt/comments/comment9.xml" ContentType="application/vnd.openxmlformats-officedocument.presentationml.comments+xml"/>
  <Override PartName="/ppt/comments/comment10.xml" ContentType="application/vnd.openxmlformats-officedocument.presentationml.comments+xml"/>
  <Override PartName="/ppt/comments/comment1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37" r:id="rId1"/>
  </p:sldMasterIdLst>
  <p:notesMasterIdLst>
    <p:notesMasterId r:id="rId30"/>
  </p:notesMasterIdLst>
  <p:sldIdLst>
    <p:sldId id="256" r:id="rId2"/>
    <p:sldId id="257" r:id="rId3"/>
    <p:sldId id="258" r:id="rId4"/>
    <p:sldId id="261" r:id="rId5"/>
    <p:sldId id="285" r:id="rId6"/>
    <p:sldId id="270" r:id="rId7"/>
    <p:sldId id="273" r:id="rId8"/>
    <p:sldId id="274" r:id="rId9"/>
    <p:sldId id="276" r:id="rId10"/>
    <p:sldId id="280" r:id="rId11"/>
    <p:sldId id="284" r:id="rId12"/>
    <p:sldId id="288" r:id="rId13"/>
    <p:sldId id="282" r:id="rId14"/>
    <p:sldId id="281" r:id="rId15"/>
    <p:sldId id="279" r:id="rId16"/>
    <p:sldId id="277" r:id="rId17"/>
    <p:sldId id="286" r:id="rId18"/>
    <p:sldId id="290" r:id="rId19"/>
    <p:sldId id="287" r:id="rId20"/>
    <p:sldId id="267" r:id="rId21"/>
    <p:sldId id="266" r:id="rId22"/>
    <p:sldId id="268" r:id="rId23"/>
    <p:sldId id="269" r:id="rId24"/>
    <p:sldId id="289" r:id="rId25"/>
    <p:sldId id="275" r:id="rId26"/>
    <p:sldId id="260" r:id="rId27"/>
    <p:sldId id="278" r:id="rId28"/>
    <p:sldId id="283"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11F3A9D-A346-4922-8E73-ABC16034189B}">
          <p14:sldIdLst>
            <p14:sldId id="256"/>
            <p14:sldId id="257"/>
            <p14:sldId id="258"/>
            <p14:sldId id="261"/>
            <p14:sldId id="285"/>
            <p14:sldId id="270"/>
            <p14:sldId id="273"/>
            <p14:sldId id="274"/>
            <p14:sldId id="276"/>
            <p14:sldId id="280"/>
            <p14:sldId id="284"/>
            <p14:sldId id="288"/>
            <p14:sldId id="282"/>
            <p14:sldId id="281"/>
            <p14:sldId id="279"/>
            <p14:sldId id="277"/>
            <p14:sldId id="286"/>
            <p14:sldId id="290"/>
            <p14:sldId id="287"/>
          </p14:sldIdLst>
        </p14:section>
        <p14:section name="Appendix" id="{30096C81-411C-4051-867A-0E9E97B11454}">
          <p14:sldIdLst>
            <p14:sldId id="267"/>
            <p14:sldId id="266"/>
            <p14:sldId id="268"/>
            <p14:sldId id="269"/>
            <p14:sldId id="289"/>
            <p14:sldId id="275"/>
          </p14:sldIdLst>
        </p14:section>
        <p14:section name="References" id="{640BDF38-5868-4E03-86FC-A55AECEC8B24}">
          <p14:sldIdLst>
            <p14:sldId id="260"/>
            <p14:sldId id="278"/>
            <p14:sldId id="283"/>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ishi" initials="r" lastIdx="26" clrIdx="0">
    <p:extLst>
      <p:ext uri="{19B8F6BF-5375-455C-9EA6-DF929625EA0E}">
        <p15:presenceInfo xmlns:p15="http://schemas.microsoft.com/office/powerpoint/2012/main" userId="rishi" providerId="None"/>
      </p:ext>
    </p:extLst>
  </p:cmAuthor>
  <p:cmAuthor id="2" name="Rishi Bharadwaj" initials="RB" lastIdx="3" clrIdx="1">
    <p:extLst>
      <p:ext uri="{19B8F6BF-5375-455C-9EA6-DF929625EA0E}">
        <p15:presenceInfo xmlns:p15="http://schemas.microsoft.com/office/powerpoint/2012/main" userId="78c5162e0cd8ed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0808" autoAdjust="0"/>
    <p:restoredTop sz="94660"/>
  </p:normalViewPr>
  <p:slideViewPr>
    <p:cSldViewPr snapToGrid="0">
      <p:cViewPr varScale="1">
        <p:scale>
          <a:sx n="152" d="100"/>
          <a:sy n="152" d="100"/>
        </p:scale>
        <p:origin x="156"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5-05-25T08:28:15.613" idx="2">
    <p:pos x="10" y="10"/>
    <p:text>Can you add as to which field this definition is from ?</p:text>
    <p:extLst>
      <p:ext uri="{C676402C-5697-4E1C-873F-D02D1690AC5C}">
        <p15:threadingInfo xmlns:p15="http://schemas.microsoft.com/office/powerpoint/2012/main" timeZoneBias="-330"/>
      </p:ext>
    </p:extLst>
  </p:cm>
  <p:cm authorId="1" dt="2025-05-25T08:28:35.376" idx="3">
    <p:pos x="146" y="146"/>
    <p:text>Replace this with a diagram or something visual. Too much of text</p:text>
    <p:extLst>
      <p:ext uri="{C676402C-5697-4E1C-873F-D02D1690AC5C}">
        <p15:threadingInfo xmlns:p15="http://schemas.microsoft.com/office/powerpoint/2012/main" timeZoneBias="-33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5-06-01T08:06:54.849" idx="14">
    <p:pos x="6562" y="332"/>
    <p:text>can remove this as it is repititive</p:text>
    <p:extLst>
      <p:ext uri="{C676402C-5697-4E1C-873F-D02D1690AC5C}">
        <p15:threadingInfo xmlns:p15="http://schemas.microsoft.com/office/powerpoint/2012/main" timeZoneBias="-330"/>
      </p:ext>
    </p:extLst>
  </p:cm>
  <p:cm authorId="1" dt="2025-06-01T08:07:10.790" idx="15">
    <p:pos x="10" y="10"/>
    <p:text>separate last sentence into two points - orchestrate and memory</p:text>
    <p:extLst>
      <p:ext uri="{C676402C-5697-4E1C-873F-D02D1690AC5C}">
        <p15:threadingInfo xmlns:p15="http://schemas.microsoft.com/office/powerpoint/2012/main" timeZoneBias="-33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5-06-01T08:09:45.712" idx="16">
    <p:pos x="2230" y="2828"/>
    <p:text>Talk about the first two points and have only the third point on the slide. Break it up into individual tasks list</p:text>
    <p:extLst>
      <p:ext uri="{C676402C-5697-4E1C-873F-D02D1690AC5C}">
        <p15:threadingInfo xmlns:p15="http://schemas.microsoft.com/office/powerpoint/2012/main" timeZoneBias="-33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5-06-01T08:12:59.756" idx="17">
    <p:pos x="10" y="10"/>
    <p:text>can do away with most text and reduce to just a bullet point stating that Transformers introduced the concept of Attention and explain with the next slide</p:text>
    <p:extLst>
      <p:ext uri="{C676402C-5697-4E1C-873F-D02D1690AC5C}">
        <p15:threadingInfo xmlns:p15="http://schemas.microsoft.com/office/powerpoint/2012/main" timeZoneBias="-33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25-05-25T09:06:50.465" idx="7">
    <p:pos x="10" y="10"/>
    <p:text>This can be combined verbally with the next slide</p:text>
    <p:extLst>
      <p:ext uri="{C676402C-5697-4E1C-873F-D02D1690AC5C}">
        <p15:threadingInfo xmlns:p15="http://schemas.microsoft.com/office/powerpoint/2012/main" timeZoneBias="-330"/>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1" dt="2025-06-01T08:17:47.703" idx="20">
    <p:pos x="7221" y="2619"/>
    <p:text>Remove this word</p:text>
    <p:extLst>
      <p:ext uri="{C676402C-5697-4E1C-873F-D02D1690AC5C}">
        <p15:threadingInfo xmlns:p15="http://schemas.microsoft.com/office/powerpoint/2012/main" timeZoneBias="-330"/>
      </p:ext>
    </p:extLst>
  </p:cm>
  <p:cm authorId="1" dt="2025-06-01T08:18:03.052" idx="21">
    <p:pos x="10" y="10"/>
    <p:text>Add back bullets in the slides</p:text>
    <p:extLst>
      <p:ext uri="{C676402C-5697-4E1C-873F-D02D1690AC5C}">
        <p15:threadingInfo xmlns:p15="http://schemas.microsoft.com/office/powerpoint/2012/main" timeZoneBias="-330"/>
      </p:ext>
    </p:extLst>
  </p:cm>
  <p:cm authorId="1" dt="2025-06-01T08:18:23.633" idx="22">
    <p:pos x="10" y="146"/>
    <p:text>Or numbering for the points</p:text>
    <p:extLst>
      <p:ext uri="{C676402C-5697-4E1C-873F-D02D1690AC5C}">
        <p15:threadingInfo xmlns:p15="http://schemas.microsoft.com/office/powerpoint/2012/main" timeZoneBias="-330">
          <p15:parentCm authorId="1" idx="21"/>
        </p15:threadingInfo>
      </p:ext>
    </p:extLst>
  </p:cm>
  <p:cm authorId="1" dt="2025-06-01T08:19:19.376" idx="23">
    <p:pos x="5723" y="1972"/>
    <p:text>remove this word</p:text>
    <p:extLst>
      <p:ext uri="{C676402C-5697-4E1C-873F-D02D1690AC5C}">
        <p15:threadingInfo xmlns:p15="http://schemas.microsoft.com/office/powerpoint/2012/main" timeZoneBias="-330"/>
      </p:ext>
    </p:extLst>
  </p:cm>
</p:cmLst>
</file>

<file path=ppt/comments/comment7.xml><?xml version="1.0" encoding="utf-8"?>
<p:cmLst xmlns:a="http://schemas.openxmlformats.org/drawingml/2006/main" xmlns:r="http://schemas.openxmlformats.org/officeDocument/2006/relationships" xmlns:p="http://schemas.openxmlformats.org/presentationml/2006/main">
  <p:cm authorId="1" dt="2025-06-01T08:22:14.937" idx="24">
    <p:pos x="10" y="10"/>
    <p:text>Add this use case in the slide that lists the use-cases</p:text>
    <p:extLst>
      <p:ext uri="{C676402C-5697-4E1C-873F-D02D1690AC5C}">
        <p15:threadingInfo xmlns:p15="http://schemas.microsoft.com/office/powerpoint/2012/main" timeZoneBias="-330"/>
      </p:ext>
    </p:extLst>
  </p:cm>
</p:cmLst>
</file>

<file path=ppt/comments/comment8.xml><?xml version="1.0" encoding="utf-8"?>
<p:cmLst xmlns:a="http://schemas.openxmlformats.org/drawingml/2006/main" xmlns:r="http://schemas.openxmlformats.org/officeDocument/2006/relationships" xmlns:p="http://schemas.openxmlformats.org/presentationml/2006/main">
  <p:cm authorId="1" dt="2025-06-01T08:22:58.559" idx="25">
    <p:pos x="10" y="10"/>
    <p:text>perhaps add a slide on matrix games since they seem to be numerous in the studies</p:text>
    <p:extLst>
      <p:ext uri="{C676402C-5697-4E1C-873F-D02D1690AC5C}">
        <p15:threadingInfo xmlns:p15="http://schemas.microsoft.com/office/powerpoint/2012/main" timeZoneBias="-330"/>
      </p:ext>
    </p:extLst>
  </p:cm>
</p:cmLst>
</file>

<file path=ppt/comments/comment9.xml><?xml version="1.0" encoding="utf-8"?>
<p:cmLst xmlns:a="http://schemas.openxmlformats.org/drawingml/2006/main" xmlns:r="http://schemas.openxmlformats.org/officeDocument/2006/relationships" xmlns:p="http://schemas.openxmlformats.org/presentationml/2006/main">
  <p:cm authorId="1" dt="2025-06-01T08:24:23.677" idx="26">
    <p:pos x="10" y="10"/>
    <p:text>Add a summary or conclusion slide</p:text>
    <p:extLst>
      <p:ext uri="{C676402C-5697-4E1C-873F-D02D1690AC5C}">
        <p15:threadingInfo xmlns:p15="http://schemas.microsoft.com/office/powerpoint/2012/main" timeZoneBias="-330"/>
      </p:ext>
    </p:extLst>
  </p:cm>
</p:cmLst>
</file>

<file path=ppt/comments/comment10.xml><?xml version="1.0" encoding="utf-8"?>
<p:cmLst xmlns:a="http://schemas.openxmlformats.org/drawingml/2006/main" xmlns:r="http://schemas.openxmlformats.org/officeDocument/2006/relationships" xmlns:p="http://schemas.openxmlformats.org/presentationml/2006/main">
  <p:cm authorId="1" dt="2025-05-25T10:31:30.715" idx="10">
    <p:pos x="10" y="10"/>
    <p:text>The previous and the next three slides on MDP/Bellman are related to RL. How does this tie in with Agentic AI ? Need to add the context and relationship</p:text>
    <p:extLst>
      <p:ext uri="{C676402C-5697-4E1C-873F-D02D1690AC5C}">
        <p15:threadingInfo xmlns:p15="http://schemas.microsoft.com/office/powerpoint/2012/main" timeZoneBias="-330"/>
      </p:ext>
    </p:extLst>
  </p:cm>
</p:cmLst>
</file>

<file path=ppt/comments/comment11.xml><?xml version="1.0" encoding="utf-8"?>
<p:cmLst xmlns:a="http://schemas.openxmlformats.org/drawingml/2006/main" xmlns:r="http://schemas.openxmlformats.org/officeDocument/2006/relationships" xmlns:p="http://schemas.openxmlformats.org/presentationml/2006/main">
  <p:cm authorId="1" dt="2025-05-25T10:26:29.881" idx="8">
    <p:pos x="10" y="10"/>
    <p:text>Explain each part of the equation</p:text>
    <p:extLst>
      <p:ext uri="{C676402C-5697-4E1C-873F-D02D1690AC5C}">
        <p15:threadingInfo xmlns:p15="http://schemas.microsoft.com/office/powerpoint/2012/main" timeZoneBias="-330"/>
      </p:ext>
    </p:extLst>
  </p:cm>
  <p:cm authorId="1" dt="2025-05-25T10:26:50.290" idx="9">
    <p:pos x="146" y="146"/>
    <p:text>Tie in this slide with some context. Where does the utility function come in - and why ?</p:text>
    <p:extLst>
      <p:ext uri="{C676402C-5697-4E1C-873F-D02D1690AC5C}">
        <p15:threadingInfo xmlns:p15="http://schemas.microsoft.com/office/powerpoint/2012/main" timeZoneBias="-330"/>
      </p:ext>
    </p:extLst>
  </p:cm>
</p: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2715205-75EA-45E6-9EE7-4E8858DCEF9C}" type="doc">
      <dgm:prSet loTypeId="urn:microsoft.com/office/officeart/2005/8/layout/process1" loCatId="process" qsTypeId="urn:microsoft.com/office/officeart/2005/8/quickstyle/simple1" qsCatId="simple" csTypeId="urn:microsoft.com/office/officeart/2005/8/colors/accent1_2" csCatId="accent1" phldr="1"/>
      <dgm:spPr/>
    </dgm:pt>
    <dgm:pt modelId="{670D10EF-304A-405A-99DB-16D6DD023BBE}">
      <dgm:prSet phldrT="[Text]"/>
      <dgm:spPr/>
      <dgm:t>
        <a:bodyPr/>
        <a:lstStyle/>
        <a:p>
          <a:r>
            <a:rPr lang="en-US" dirty="0"/>
            <a:t>Perceive</a:t>
          </a:r>
          <a:endParaRPr lang="en-IN" dirty="0"/>
        </a:p>
      </dgm:t>
    </dgm:pt>
    <dgm:pt modelId="{53E9E20C-A984-40B4-B2F6-534AEECD2049}" type="parTrans" cxnId="{3D78DFB3-EBCF-473A-8176-7762FA19E784}">
      <dgm:prSet/>
      <dgm:spPr/>
      <dgm:t>
        <a:bodyPr/>
        <a:lstStyle/>
        <a:p>
          <a:endParaRPr lang="en-IN"/>
        </a:p>
      </dgm:t>
    </dgm:pt>
    <dgm:pt modelId="{531E2B55-47A0-4FD3-B99E-96ECD979ABA5}" type="sibTrans" cxnId="{3D78DFB3-EBCF-473A-8176-7762FA19E784}">
      <dgm:prSet/>
      <dgm:spPr/>
      <dgm:t>
        <a:bodyPr/>
        <a:lstStyle/>
        <a:p>
          <a:endParaRPr lang="en-IN"/>
        </a:p>
      </dgm:t>
    </dgm:pt>
    <dgm:pt modelId="{D8868251-5F8E-488D-990A-9B9B3C50C5FB}">
      <dgm:prSet phldrT="[Text]"/>
      <dgm:spPr/>
      <dgm:t>
        <a:bodyPr/>
        <a:lstStyle/>
        <a:p>
          <a:r>
            <a:rPr lang="en-US" dirty="0"/>
            <a:t>Reason</a:t>
          </a:r>
          <a:endParaRPr lang="en-IN" dirty="0"/>
        </a:p>
      </dgm:t>
    </dgm:pt>
    <dgm:pt modelId="{089A91A8-8FC5-4AC2-AA51-D806C32D7445}" type="parTrans" cxnId="{FE483F9F-DA1D-44AC-B953-D639C2D59395}">
      <dgm:prSet/>
      <dgm:spPr/>
      <dgm:t>
        <a:bodyPr/>
        <a:lstStyle/>
        <a:p>
          <a:endParaRPr lang="en-IN"/>
        </a:p>
      </dgm:t>
    </dgm:pt>
    <dgm:pt modelId="{005B064A-3674-4EAE-BD65-72D171175D05}" type="sibTrans" cxnId="{FE483F9F-DA1D-44AC-B953-D639C2D59395}">
      <dgm:prSet/>
      <dgm:spPr/>
      <dgm:t>
        <a:bodyPr/>
        <a:lstStyle/>
        <a:p>
          <a:endParaRPr lang="en-IN"/>
        </a:p>
      </dgm:t>
    </dgm:pt>
    <dgm:pt modelId="{770904A2-B203-429F-A306-547183D271D5}">
      <dgm:prSet phldrT="[Text]"/>
      <dgm:spPr/>
      <dgm:t>
        <a:bodyPr/>
        <a:lstStyle/>
        <a:p>
          <a:r>
            <a:rPr lang="en-US" dirty="0"/>
            <a:t>Act</a:t>
          </a:r>
          <a:endParaRPr lang="en-IN" dirty="0"/>
        </a:p>
      </dgm:t>
    </dgm:pt>
    <dgm:pt modelId="{88F84BCD-4AC3-4879-97D1-EFE3E26A3B32}" type="parTrans" cxnId="{B112BD06-B746-418D-B600-C032DB85ABBC}">
      <dgm:prSet/>
      <dgm:spPr/>
      <dgm:t>
        <a:bodyPr/>
        <a:lstStyle/>
        <a:p>
          <a:endParaRPr lang="en-IN"/>
        </a:p>
      </dgm:t>
    </dgm:pt>
    <dgm:pt modelId="{B49E680D-7A82-4E64-84CA-19AE414D5FB7}" type="sibTrans" cxnId="{B112BD06-B746-418D-B600-C032DB85ABBC}">
      <dgm:prSet/>
      <dgm:spPr/>
      <dgm:t>
        <a:bodyPr/>
        <a:lstStyle/>
        <a:p>
          <a:endParaRPr lang="en-IN"/>
        </a:p>
      </dgm:t>
    </dgm:pt>
    <dgm:pt modelId="{5C6D3AE9-3195-4FAA-B729-9BF287148476}">
      <dgm:prSet/>
      <dgm:spPr/>
      <dgm:t>
        <a:bodyPr/>
        <a:lstStyle/>
        <a:p>
          <a:r>
            <a:rPr lang="en-US" dirty="0"/>
            <a:t>Learn</a:t>
          </a:r>
          <a:endParaRPr lang="en-IN" dirty="0"/>
        </a:p>
      </dgm:t>
    </dgm:pt>
    <dgm:pt modelId="{175AE0AD-D5A8-42BF-8A0C-5007ACD4D089}" type="parTrans" cxnId="{2B54DCF3-B505-4449-A258-6E9E3C6226EF}">
      <dgm:prSet/>
      <dgm:spPr/>
      <dgm:t>
        <a:bodyPr/>
        <a:lstStyle/>
        <a:p>
          <a:endParaRPr lang="en-IN"/>
        </a:p>
      </dgm:t>
    </dgm:pt>
    <dgm:pt modelId="{D9B2F58D-3ABD-4305-B2B9-A34AB25C08C5}" type="sibTrans" cxnId="{2B54DCF3-B505-4449-A258-6E9E3C6226EF}">
      <dgm:prSet/>
      <dgm:spPr/>
      <dgm:t>
        <a:bodyPr/>
        <a:lstStyle/>
        <a:p>
          <a:endParaRPr lang="en-IN"/>
        </a:p>
      </dgm:t>
    </dgm:pt>
    <dgm:pt modelId="{2F76D376-2BEC-48D2-96A6-C7798A43D6C0}" type="pres">
      <dgm:prSet presAssocID="{E2715205-75EA-45E6-9EE7-4E8858DCEF9C}" presName="Name0" presStyleCnt="0">
        <dgm:presLayoutVars>
          <dgm:dir/>
          <dgm:resizeHandles val="exact"/>
        </dgm:presLayoutVars>
      </dgm:prSet>
      <dgm:spPr/>
    </dgm:pt>
    <dgm:pt modelId="{8F8C2120-9928-4332-B57A-9D1B99E7C454}" type="pres">
      <dgm:prSet presAssocID="{670D10EF-304A-405A-99DB-16D6DD023BBE}" presName="node" presStyleLbl="node1" presStyleIdx="0" presStyleCnt="4" custLinFactNeighborX="12485" custLinFactNeighborY="-73868">
        <dgm:presLayoutVars>
          <dgm:bulletEnabled val="1"/>
        </dgm:presLayoutVars>
      </dgm:prSet>
      <dgm:spPr/>
    </dgm:pt>
    <dgm:pt modelId="{80CAC747-ABBB-46DE-B9D7-384DD649B38C}" type="pres">
      <dgm:prSet presAssocID="{531E2B55-47A0-4FD3-B99E-96ECD979ABA5}" presName="sibTrans" presStyleLbl="sibTrans2D1" presStyleIdx="0" presStyleCnt="3"/>
      <dgm:spPr/>
    </dgm:pt>
    <dgm:pt modelId="{3487C0F7-D9B8-40C2-9DCA-7C1AB4A0B49C}" type="pres">
      <dgm:prSet presAssocID="{531E2B55-47A0-4FD3-B99E-96ECD979ABA5}" presName="connectorText" presStyleLbl="sibTrans2D1" presStyleIdx="0" presStyleCnt="3"/>
      <dgm:spPr/>
    </dgm:pt>
    <dgm:pt modelId="{1D11C50A-AD08-4694-9BF1-C14FBFA63C9E}" type="pres">
      <dgm:prSet presAssocID="{D8868251-5F8E-488D-990A-9B9B3C50C5FB}" presName="node" presStyleLbl="node1" presStyleIdx="1" presStyleCnt="4" custLinFactNeighborX="-780" custLinFactNeighborY="-76469">
        <dgm:presLayoutVars>
          <dgm:bulletEnabled val="1"/>
        </dgm:presLayoutVars>
      </dgm:prSet>
      <dgm:spPr/>
    </dgm:pt>
    <dgm:pt modelId="{B9924C1B-4AD8-4732-9DE4-DA4DAAE71D39}" type="pres">
      <dgm:prSet presAssocID="{005B064A-3674-4EAE-BD65-72D171175D05}" presName="sibTrans" presStyleLbl="sibTrans2D1" presStyleIdx="1" presStyleCnt="3"/>
      <dgm:spPr/>
    </dgm:pt>
    <dgm:pt modelId="{CBA79C4B-9EDF-47DF-A21A-075EAF85B031}" type="pres">
      <dgm:prSet presAssocID="{005B064A-3674-4EAE-BD65-72D171175D05}" presName="connectorText" presStyleLbl="sibTrans2D1" presStyleIdx="1" presStyleCnt="3"/>
      <dgm:spPr/>
    </dgm:pt>
    <dgm:pt modelId="{90817779-3D6A-4E99-A3E1-5DB0C2A7E580}" type="pres">
      <dgm:prSet presAssocID="{770904A2-B203-429F-A306-547183D271D5}" presName="node" presStyleLbl="node1" presStyleIdx="2" presStyleCnt="4" custLinFactNeighborX="-5526" custLinFactNeighborY="-76030">
        <dgm:presLayoutVars>
          <dgm:bulletEnabled val="1"/>
        </dgm:presLayoutVars>
      </dgm:prSet>
      <dgm:spPr/>
    </dgm:pt>
    <dgm:pt modelId="{21B4866F-70CE-416D-B821-19B93352F2E9}" type="pres">
      <dgm:prSet presAssocID="{B49E680D-7A82-4E64-84CA-19AE414D5FB7}" presName="sibTrans" presStyleLbl="sibTrans2D1" presStyleIdx="2" presStyleCnt="3"/>
      <dgm:spPr/>
    </dgm:pt>
    <dgm:pt modelId="{63114C13-F2CD-40C4-B9F5-81B18BF4F572}" type="pres">
      <dgm:prSet presAssocID="{B49E680D-7A82-4E64-84CA-19AE414D5FB7}" presName="connectorText" presStyleLbl="sibTrans2D1" presStyleIdx="2" presStyleCnt="3"/>
      <dgm:spPr/>
    </dgm:pt>
    <dgm:pt modelId="{143FF5EE-F012-4348-9094-6011FF0EF7EB}" type="pres">
      <dgm:prSet presAssocID="{5C6D3AE9-3195-4FAA-B729-9BF287148476}" presName="node" presStyleLbl="node1" presStyleIdx="3" presStyleCnt="4" custLinFactX="10218" custLinFactNeighborX="100000" custLinFactNeighborY="-73783">
        <dgm:presLayoutVars>
          <dgm:bulletEnabled val="1"/>
        </dgm:presLayoutVars>
      </dgm:prSet>
      <dgm:spPr/>
    </dgm:pt>
  </dgm:ptLst>
  <dgm:cxnLst>
    <dgm:cxn modelId="{B112BD06-B746-418D-B600-C032DB85ABBC}" srcId="{E2715205-75EA-45E6-9EE7-4E8858DCEF9C}" destId="{770904A2-B203-429F-A306-547183D271D5}" srcOrd="2" destOrd="0" parTransId="{88F84BCD-4AC3-4879-97D1-EFE3E26A3B32}" sibTransId="{B49E680D-7A82-4E64-84CA-19AE414D5FB7}"/>
    <dgm:cxn modelId="{D953EA08-4014-4AAB-8FE8-C6854FAFD695}" type="presOf" srcId="{B49E680D-7A82-4E64-84CA-19AE414D5FB7}" destId="{63114C13-F2CD-40C4-B9F5-81B18BF4F572}" srcOrd="1" destOrd="0" presId="urn:microsoft.com/office/officeart/2005/8/layout/process1"/>
    <dgm:cxn modelId="{4D91C223-C6E1-44AD-B0CD-CB8DAF27F7D6}" type="presOf" srcId="{670D10EF-304A-405A-99DB-16D6DD023BBE}" destId="{8F8C2120-9928-4332-B57A-9D1B99E7C454}" srcOrd="0" destOrd="0" presId="urn:microsoft.com/office/officeart/2005/8/layout/process1"/>
    <dgm:cxn modelId="{27245D4F-F7FC-46D5-A952-CC2D8118753C}" type="presOf" srcId="{5C6D3AE9-3195-4FAA-B729-9BF287148476}" destId="{143FF5EE-F012-4348-9094-6011FF0EF7EB}" srcOrd="0" destOrd="0" presId="urn:microsoft.com/office/officeart/2005/8/layout/process1"/>
    <dgm:cxn modelId="{A10BF058-199A-4A16-A7E7-1C03DD2DABB1}" type="presOf" srcId="{005B064A-3674-4EAE-BD65-72D171175D05}" destId="{B9924C1B-4AD8-4732-9DE4-DA4DAAE71D39}" srcOrd="0" destOrd="0" presId="urn:microsoft.com/office/officeart/2005/8/layout/process1"/>
    <dgm:cxn modelId="{648A4288-5DB8-407C-AD7C-96598231E726}" type="presOf" srcId="{005B064A-3674-4EAE-BD65-72D171175D05}" destId="{CBA79C4B-9EDF-47DF-A21A-075EAF85B031}" srcOrd="1" destOrd="0" presId="urn:microsoft.com/office/officeart/2005/8/layout/process1"/>
    <dgm:cxn modelId="{D787618C-9AD7-454A-BA07-0A7F6227F089}" type="presOf" srcId="{E2715205-75EA-45E6-9EE7-4E8858DCEF9C}" destId="{2F76D376-2BEC-48D2-96A6-C7798A43D6C0}" srcOrd="0" destOrd="0" presId="urn:microsoft.com/office/officeart/2005/8/layout/process1"/>
    <dgm:cxn modelId="{D8EC4B9E-8E08-4766-B00D-0975B5917E43}" type="presOf" srcId="{770904A2-B203-429F-A306-547183D271D5}" destId="{90817779-3D6A-4E99-A3E1-5DB0C2A7E580}" srcOrd="0" destOrd="0" presId="urn:microsoft.com/office/officeart/2005/8/layout/process1"/>
    <dgm:cxn modelId="{FE483F9F-DA1D-44AC-B953-D639C2D59395}" srcId="{E2715205-75EA-45E6-9EE7-4E8858DCEF9C}" destId="{D8868251-5F8E-488D-990A-9B9B3C50C5FB}" srcOrd="1" destOrd="0" parTransId="{089A91A8-8FC5-4AC2-AA51-D806C32D7445}" sibTransId="{005B064A-3674-4EAE-BD65-72D171175D05}"/>
    <dgm:cxn modelId="{CDD949B3-FFFD-46EE-B57D-FC43BB5F7E2B}" type="presOf" srcId="{B49E680D-7A82-4E64-84CA-19AE414D5FB7}" destId="{21B4866F-70CE-416D-B821-19B93352F2E9}" srcOrd="0" destOrd="0" presId="urn:microsoft.com/office/officeart/2005/8/layout/process1"/>
    <dgm:cxn modelId="{3D78DFB3-EBCF-473A-8176-7762FA19E784}" srcId="{E2715205-75EA-45E6-9EE7-4E8858DCEF9C}" destId="{670D10EF-304A-405A-99DB-16D6DD023BBE}" srcOrd="0" destOrd="0" parTransId="{53E9E20C-A984-40B4-B2F6-534AEECD2049}" sibTransId="{531E2B55-47A0-4FD3-B99E-96ECD979ABA5}"/>
    <dgm:cxn modelId="{063CA4E3-8029-411F-94FE-45F180AD2FD7}" type="presOf" srcId="{531E2B55-47A0-4FD3-B99E-96ECD979ABA5}" destId="{80CAC747-ABBB-46DE-B9D7-384DD649B38C}" srcOrd="0" destOrd="0" presId="urn:microsoft.com/office/officeart/2005/8/layout/process1"/>
    <dgm:cxn modelId="{EC527CEA-F604-4072-BA45-7F8D31EF8FF8}" type="presOf" srcId="{D8868251-5F8E-488D-990A-9B9B3C50C5FB}" destId="{1D11C50A-AD08-4694-9BF1-C14FBFA63C9E}" srcOrd="0" destOrd="0" presId="urn:microsoft.com/office/officeart/2005/8/layout/process1"/>
    <dgm:cxn modelId="{64C86CF2-5E76-4704-AEA9-3D9473618CA5}" type="presOf" srcId="{531E2B55-47A0-4FD3-B99E-96ECD979ABA5}" destId="{3487C0F7-D9B8-40C2-9DCA-7C1AB4A0B49C}" srcOrd="1" destOrd="0" presId="urn:microsoft.com/office/officeart/2005/8/layout/process1"/>
    <dgm:cxn modelId="{2B54DCF3-B505-4449-A258-6E9E3C6226EF}" srcId="{E2715205-75EA-45E6-9EE7-4E8858DCEF9C}" destId="{5C6D3AE9-3195-4FAA-B729-9BF287148476}" srcOrd="3" destOrd="0" parTransId="{175AE0AD-D5A8-42BF-8A0C-5007ACD4D089}" sibTransId="{D9B2F58D-3ABD-4305-B2B9-A34AB25C08C5}"/>
    <dgm:cxn modelId="{05AD830E-B3AF-49E3-ABC0-86EFBE4FCC1E}" type="presParOf" srcId="{2F76D376-2BEC-48D2-96A6-C7798A43D6C0}" destId="{8F8C2120-9928-4332-B57A-9D1B99E7C454}" srcOrd="0" destOrd="0" presId="urn:microsoft.com/office/officeart/2005/8/layout/process1"/>
    <dgm:cxn modelId="{7D220522-00FD-4521-8466-BB0E3B4765F5}" type="presParOf" srcId="{2F76D376-2BEC-48D2-96A6-C7798A43D6C0}" destId="{80CAC747-ABBB-46DE-B9D7-384DD649B38C}" srcOrd="1" destOrd="0" presId="urn:microsoft.com/office/officeart/2005/8/layout/process1"/>
    <dgm:cxn modelId="{65CD4EA9-DC6F-4D75-9144-0410B44A9A51}" type="presParOf" srcId="{80CAC747-ABBB-46DE-B9D7-384DD649B38C}" destId="{3487C0F7-D9B8-40C2-9DCA-7C1AB4A0B49C}" srcOrd="0" destOrd="0" presId="urn:microsoft.com/office/officeart/2005/8/layout/process1"/>
    <dgm:cxn modelId="{1263BA87-0F4B-42A8-8C39-A246D6196C8A}" type="presParOf" srcId="{2F76D376-2BEC-48D2-96A6-C7798A43D6C0}" destId="{1D11C50A-AD08-4694-9BF1-C14FBFA63C9E}" srcOrd="2" destOrd="0" presId="urn:microsoft.com/office/officeart/2005/8/layout/process1"/>
    <dgm:cxn modelId="{E00E0909-1431-4181-80F7-EB1A6AD261B8}" type="presParOf" srcId="{2F76D376-2BEC-48D2-96A6-C7798A43D6C0}" destId="{B9924C1B-4AD8-4732-9DE4-DA4DAAE71D39}" srcOrd="3" destOrd="0" presId="urn:microsoft.com/office/officeart/2005/8/layout/process1"/>
    <dgm:cxn modelId="{B5AFEFCE-715F-454E-8111-DC0F954E1BA3}" type="presParOf" srcId="{B9924C1B-4AD8-4732-9DE4-DA4DAAE71D39}" destId="{CBA79C4B-9EDF-47DF-A21A-075EAF85B031}" srcOrd="0" destOrd="0" presId="urn:microsoft.com/office/officeart/2005/8/layout/process1"/>
    <dgm:cxn modelId="{6E92C789-4801-4ED2-87D5-21556EA79A5E}" type="presParOf" srcId="{2F76D376-2BEC-48D2-96A6-C7798A43D6C0}" destId="{90817779-3D6A-4E99-A3E1-5DB0C2A7E580}" srcOrd="4" destOrd="0" presId="urn:microsoft.com/office/officeart/2005/8/layout/process1"/>
    <dgm:cxn modelId="{B57A811C-F27E-42AB-AC7D-483802A5A656}" type="presParOf" srcId="{2F76D376-2BEC-48D2-96A6-C7798A43D6C0}" destId="{21B4866F-70CE-416D-B821-19B93352F2E9}" srcOrd="5" destOrd="0" presId="urn:microsoft.com/office/officeart/2005/8/layout/process1"/>
    <dgm:cxn modelId="{4A1F04A7-118D-4893-8B19-F464F8615C1B}" type="presParOf" srcId="{21B4866F-70CE-416D-B821-19B93352F2E9}" destId="{63114C13-F2CD-40C4-B9F5-81B18BF4F572}" srcOrd="0" destOrd="0" presId="urn:microsoft.com/office/officeart/2005/8/layout/process1"/>
    <dgm:cxn modelId="{58A2BF62-BB52-4E0A-95E1-3B95A23AC117}" type="presParOf" srcId="{2F76D376-2BEC-48D2-96A6-C7798A43D6C0}" destId="{143FF5EE-F012-4348-9094-6011FF0EF7EB}" srcOrd="6"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8C2120-9928-4332-B57A-9D1B99E7C454}">
      <dsp:nvSpPr>
        <dsp:cNvPr id="0" name=""/>
        <dsp:cNvSpPr/>
      </dsp:nvSpPr>
      <dsp:spPr>
        <a:xfrm>
          <a:off x="97337" y="686718"/>
          <a:ext cx="1863736" cy="1118241"/>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Perceive</a:t>
          </a:r>
          <a:endParaRPr lang="en-IN" sz="3200" kern="1200" dirty="0"/>
        </a:p>
      </dsp:txBody>
      <dsp:txXfrm>
        <a:off x="130089" y="719470"/>
        <a:ext cx="1798232" cy="1052737"/>
      </dsp:txXfrm>
    </dsp:sp>
    <dsp:sp modelId="{80CAC747-ABBB-46DE-B9D7-384DD649B38C}">
      <dsp:nvSpPr>
        <dsp:cNvPr id="0" name=""/>
        <dsp:cNvSpPr/>
      </dsp:nvSpPr>
      <dsp:spPr>
        <a:xfrm rot="21560171">
          <a:off x="2122714" y="1000080"/>
          <a:ext cx="342723" cy="46220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IN" sz="2000" kern="1200"/>
        </a:p>
      </dsp:txBody>
      <dsp:txXfrm>
        <a:off x="2122717" y="1093117"/>
        <a:ext cx="239906" cy="277324"/>
      </dsp:txXfrm>
    </dsp:sp>
    <dsp:sp modelId="{1D11C50A-AD08-4694-9BF1-C14FBFA63C9E}">
      <dsp:nvSpPr>
        <dsp:cNvPr id="0" name=""/>
        <dsp:cNvSpPr/>
      </dsp:nvSpPr>
      <dsp:spPr>
        <a:xfrm>
          <a:off x="2607679" y="657632"/>
          <a:ext cx="1863736" cy="1118241"/>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Reason</a:t>
          </a:r>
          <a:endParaRPr lang="en-IN" sz="3200" kern="1200" dirty="0"/>
        </a:p>
      </dsp:txBody>
      <dsp:txXfrm>
        <a:off x="2640431" y="690384"/>
        <a:ext cx="1798232" cy="1052737"/>
      </dsp:txXfrm>
    </dsp:sp>
    <dsp:sp modelId="{B9924C1B-4AD8-4732-9DE4-DA4DAAE71D39}">
      <dsp:nvSpPr>
        <dsp:cNvPr id="0" name=""/>
        <dsp:cNvSpPr/>
      </dsp:nvSpPr>
      <dsp:spPr>
        <a:xfrm rot="6557">
          <a:off x="4648943" y="988125"/>
          <a:ext cx="376360" cy="46220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IN" sz="2000" kern="1200"/>
        </a:p>
      </dsp:txBody>
      <dsp:txXfrm>
        <a:off x="4648943" y="1080458"/>
        <a:ext cx="263452" cy="277324"/>
      </dsp:txXfrm>
    </dsp:sp>
    <dsp:sp modelId="{90817779-3D6A-4E99-A3E1-5DB0C2A7E580}">
      <dsp:nvSpPr>
        <dsp:cNvPr id="0" name=""/>
        <dsp:cNvSpPr/>
      </dsp:nvSpPr>
      <dsp:spPr>
        <a:xfrm>
          <a:off x="5181529" y="662541"/>
          <a:ext cx="1863736" cy="1118241"/>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Act</a:t>
          </a:r>
          <a:endParaRPr lang="en-IN" sz="3200" kern="1200" dirty="0"/>
        </a:p>
      </dsp:txBody>
      <dsp:txXfrm>
        <a:off x="5214281" y="695293"/>
        <a:ext cx="1798232" cy="1052737"/>
      </dsp:txXfrm>
    </dsp:sp>
    <dsp:sp modelId="{21B4866F-70CE-416D-B821-19B93352F2E9}">
      <dsp:nvSpPr>
        <dsp:cNvPr id="0" name=""/>
        <dsp:cNvSpPr/>
      </dsp:nvSpPr>
      <dsp:spPr>
        <a:xfrm rot="32538">
          <a:off x="7242994" y="1003235"/>
          <a:ext cx="419224" cy="46220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IN" sz="2000" kern="1200"/>
        </a:p>
      </dsp:txBody>
      <dsp:txXfrm>
        <a:off x="7242997" y="1095081"/>
        <a:ext cx="293457" cy="277324"/>
      </dsp:txXfrm>
    </dsp:sp>
    <dsp:sp modelId="{143FF5EE-F012-4348-9094-6011FF0EF7EB}">
      <dsp:nvSpPr>
        <dsp:cNvPr id="0" name=""/>
        <dsp:cNvSpPr/>
      </dsp:nvSpPr>
      <dsp:spPr>
        <a:xfrm>
          <a:off x="7836219" y="687668"/>
          <a:ext cx="1863736" cy="1118241"/>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Learn</a:t>
          </a:r>
          <a:endParaRPr lang="en-IN" sz="3200" kern="1200" dirty="0"/>
        </a:p>
      </dsp:txBody>
      <dsp:txXfrm>
        <a:off x="7868971" y="720420"/>
        <a:ext cx="1798232" cy="1052737"/>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D3AF16-2824-4D28-B9A7-9CD82CB2264E}" type="datetimeFigureOut">
              <a:rPr lang="en-IN" smtClean="0"/>
              <a:t>01-06-2025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10AEAD-741A-40E6-8619-330E6142E95A}" type="slidenum">
              <a:rPr lang="en-IN" smtClean="0"/>
              <a:t>‹#›</a:t>
            </a:fld>
            <a:endParaRPr lang="en-IN"/>
          </a:p>
        </p:txBody>
      </p:sp>
    </p:spTree>
    <p:extLst>
      <p:ext uri="{BB962C8B-B14F-4D97-AF65-F5344CB8AC3E}">
        <p14:creationId xmlns:p14="http://schemas.microsoft.com/office/powerpoint/2010/main" val="2799268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B10AEAD-741A-40E6-8619-330E6142E95A}" type="slidenum">
              <a:rPr lang="en-IN" smtClean="0"/>
              <a:t>3</a:t>
            </a:fld>
            <a:endParaRPr lang="en-IN"/>
          </a:p>
        </p:txBody>
      </p:sp>
    </p:spTree>
    <p:extLst>
      <p:ext uri="{BB962C8B-B14F-4D97-AF65-F5344CB8AC3E}">
        <p14:creationId xmlns:p14="http://schemas.microsoft.com/office/powerpoint/2010/main" val="41624817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10AEAD-741A-40E6-8619-330E6142E95A}" type="slidenum">
              <a:rPr lang="en-IN" smtClean="0"/>
              <a:t>6</a:t>
            </a:fld>
            <a:endParaRPr lang="en-IN"/>
          </a:p>
        </p:txBody>
      </p:sp>
    </p:spTree>
    <p:extLst>
      <p:ext uri="{BB962C8B-B14F-4D97-AF65-F5344CB8AC3E}">
        <p14:creationId xmlns:p14="http://schemas.microsoft.com/office/powerpoint/2010/main" val="404933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58B28AD-DE9A-408B-A794-67A708DAFC76}" type="datetimeFigureOut">
              <a:rPr lang="en-IN" smtClean="0"/>
              <a:t>01-06-2025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7FAE37E-C499-46EE-A034-B3D7234A371F}" type="slidenum">
              <a:rPr lang="en-IN" smtClean="0"/>
              <a:t>‹#›</a:t>
            </a:fld>
            <a:endParaRPr lang="en-IN"/>
          </a:p>
        </p:txBody>
      </p:sp>
    </p:spTree>
    <p:extLst>
      <p:ext uri="{BB962C8B-B14F-4D97-AF65-F5344CB8AC3E}">
        <p14:creationId xmlns:p14="http://schemas.microsoft.com/office/powerpoint/2010/main" val="26844200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58B28AD-DE9A-408B-A794-67A708DAFC76}" type="datetimeFigureOut">
              <a:rPr lang="en-IN" smtClean="0"/>
              <a:t>01-06-2025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7FAE37E-C499-46EE-A034-B3D7234A371F}" type="slidenum">
              <a:rPr lang="en-IN" smtClean="0"/>
              <a:t>‹#›</a:t>
            </a:fld>
            <a:endParaRPr lang="en-IN"/>
          </a:p>
        </p:txBody>
      </p:sp>
    </p:spTree>
    <p:extLst>
      <p:ext uri="{BB962C8B-B14F-4D97-AF65-F5344CB8AC3E}">
        <p14:creationId xmlns:p14="http://schemas.microsoft.com/office/powerpoint/2010/main" val="3981409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58B28AD-DE9A-408B-A794-67A708DAFC76}" type="datetimeFigureOut">
              <a:rPr lang="en-IN" smtClean="0"/>
              <a:t>01-06-2025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7FAE37E-C499-46EE-A034-B3D7234A371F}" type="slidenum">
              <a:rPr lang="en-IN" smtClean="0"/>
              <a:t>‹#›</a:t>
            </a:fld>
            <a:endParaRPr lang="en-IN"/>
          </a:p>
        </p:txBody>
      </p:sp>
    </p:spTree>
    <p:extLst>
      <p:ext uri="{BB962C8B-B14F-4D97-AF65-F5344CB8AC3E}">
        <p14:creationId xmlns:p14="http://schemas.microsoft.com/office/powerpoint/2010/main" val="35257458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58B28AD-DE9A-408B-A794-67A708DAFC76}" type="datetimeFigureOut">
              <a:rPr lang="en-IN" smtClean="0"/>
              <a:t>01-06-2025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7FAE37E-C499-46EE-A034-B3D7234A371F}" type="slidenum">
              <a:rPr lang="en-IN" smtClean="0"/>
              <a:t>‹#›</a:t>
            </a:fld>
            <a:endParaRPr lang="en-IN"/>
          </a:p>
        </p:txBody>
      </p:sp>
    </p:spTree>
    <p:extLst>
      <p:ext uri="{BB962C8B-B14F-4D97-AF65-F5344CB8AC3E}">
        <p14:creationId xmlns:p14="http://schemas.microsoft.com/office/powerpoint/2010/main" val="41245033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58B28AD-DE9A-408B-A794-67A708DAFC76}" type="datetimeFigureOut">
              <a:rPr lang="en-IN" smtClean="0"/>
              <a:t>01-06-2025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7FAE37E-C499-46EE-A034-B3D7234A371F}" type="slidenum">
              <a:rPr lang="en-IN" smtClean="0"/>
              <a:t>‹#›</a:t>
            </a:fld>
            <a:endParaRPr lang="en-IN"/>
          </a:p>
        </p:txBody>
      </p:sp>
    </p:spTree>
    <p:extLst>
      <p:ext uri="{BB962C8B-B14F-4D97-AF65-F5344CB8AC3E}">
        <p14:creationId xmlns:p14="http://schemas.microsoft.com/office/powerpoint/2010/main" val="18664688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58B28AD-DE9A-408B-A794-67A708DAFC76}" type="datetimeFigureOut">
              <a:rPr lang="en-IN" smtClean="0"/>
              <a:t>01-06-2025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7FAE37E-C499-46EE-A034-B3D7234A371F}" type="slidenum">
              <a:rPr lang="en-IN" smtClean="0"/>
              <a:t>‹#›</a:t>
            </a:fld>
            <a:endParaRPr lang="en-IN"/>
          </a:p>
        </p:txBody>
      </p:sp>
    </p:spTree>
    <p:extLst>
      <p:ext uri="{BB962C8B-B14F-4D97-AF65-F5344CB8AC3E}">
        <p14:creationId xmlns:p14="http://schemas.microsoft.com/office/powerpoint/2010/main" val="32756883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58B28AD-DE9A-408B-A794-67A708DAFC76}" type="datetimeFigureOut">
              <a:rPr lang="en-IN" smtClean="0"/>
              <a:t>01-06-2025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7FAE37E-C499-46EE-A034-B3D7234A371F}" type="slidenum">
              <a:rPr lang="en-IN" smtClean="0"/>
              <a:t>‹#›</a:t>
            </a:fld>
            <a:endParaRPr lang="en-IN"/>
          </a:p>
        </p:txBody>
      </p:sp>
    </p:spTree>
    <p:extLst>
      <p:ext uri="{BB962C8B-B14F-4D97-AF65-F5344CB8AC3E}">
        <p14:creationId xmlns:p14="http://schemas.microsoft.com/office/powerpoint/2010/main" val="32479562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58B28AD-DE9A-408B-A794-67A708DAFC76}" type="datetimeFigureOut">
              <a:rPr lang="en-IN" smtClean="0"/>
              <a:t>01-06-2025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7FAE37E-C499-46EE-A034-B3D7234A371F}" type="slidenum">
              <a:rPr lang="en-IN" smtClean="0"/>
              <a:t>‹#›</a:t>
            </a:fld>
            <a:endParaRPr lang="en-IN"/>
          </a:p>
        </p:txBody>
      </p:sp>
    </p:spTree>
    <p:extLst>
      <p:ext uri="{BB962C8B-B14F-4D97-AF65-F5344CB8AC3E}">
        <p14:creationId xmlns:p14="http://schemas.microsoft.com/office/powerpoint/2010/main" val="42042524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58B28AD-DE9A-408B-A794-67A708DAFC76}" type="datetimeFigureOut">
              <a:rPr lang="en-IN" smtClean="0"/>
              <a:t>01-06-2025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7FAE37E-C499-46EE-A034-B3D7234A371F}" type="slidenum">
              <a:rPr lang="en-IN" smtClean="0"/>
              <a:t>‹#›</a:t>
            </a:fld>
            <a:endParaRPr lang="en-IN"/>
          </a:p>
        </p:txBody>
      </p:sp>
    </p:spTree>
    <p:extLst>
      <p:ext uri="{BB962C8B-B14F-4D97-AF65-F5344CB8AC3E}">
        <p14:creationId xmlns:p14="http://schemas.microsoft.com/office/powerpoint/2010/main" val="3423566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58B28AD-DE9A-408B-A794-67A708DAFC76}" type="datetimeFigureOut">
              <a:rPr lang="en-IN" smtClean="0"/>
              <a:t>01-06-2025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7FAE37E-C499-46EE-A034-B3D7234A371F}" type="slidenum">
              <a:rPr lang="en-IN" smtClean="0"/>
              <a:t>‹#›</a:t>
            </a:fld>
            <a:endParaRPr lang="en-IN"/>
          </a:p>
        </p:txBody>
      </p:sp>
    </p:spTree>
    <p:extLst>
      <p:ext uri="{BB962C8B-B14F-4D97-AF65-F5344CB8AC3E}">
        <p14:creationId xmlns:p14="http://schemas.microsoft.com/office/powerpoint/2010/main" val="3739344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58B28AD-DE9A-408B-A794-67A708DAFC76}" type="datetimeFigureOut">
              <a:rPr lang="en-IN" smtClean="0"/>
              <a:t>01-06-2025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7FAE37E-C499-46EE-A034-B3D7234A371F}"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3826479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58B28AD-DE9A-408B-A794-67A708DAFC76}" type="datetimeFigureOut">
              <a:rPr lang="en-IN" smtClean="0"/>
              <a:t>01-06-2025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7FAE37E-C499-46EE-A034-B3D7234A371F}" type="slidenum">
              <a:rPr lang="en-IN" smtClean="0"/>
              <a:t>‹#›</a:t>
            </a:fld>
            <a:endParaRPr lang="en-IN"/>
          </a:p>
        </p:txBody>
      </p:sp>
    </p:spTree>
    <p:extLst>
      <p:ext uri="{BB962C8B-B14F-4D97-AF65-F5344CB8AC3E}">
        <p14:creationId xmlns:p14="http://schemas.microsoft.com/office/powerpoint/2010/main" val="18000479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58B28AD-DE9A-408B-A794-67A708DAFC76}" type="datetimeFigureOut">
              <a:rPr lang="en-IN" smtClean="0"/>
              <a:t>01-06-2025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7FAE37E-C499-46EE-A034-B3D7234A371F}"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4080145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58B28AD-DE9A-408B-A794-67A708DAFC76}" type="datetimeFigureOut">
              <a:rPr lang="en-IN" smtClean="0"/>
              <a:t>01-06-2025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7FAE37E-C499-46EE-A034-B3D7234A371F}" type="slidenum">
              <a:rPr lang="en-IN" smtClean="0"/>
              <a:t>‹#›</a:t>
            </a:fld>
            <a:endParaRPr lang="en-IN"/>
          </a:p>
        </p:txBody>
      </p:sp>
    </p:spTree>
    <p:extLst>
      <p:ext uri="{BB962C8B-B14F-4D97-AF65-F5344CB8AC3E}">
        <p14:creationId xmlns:p14="http://schemas.microsoft.com/office/powerpoint/2010/main" val="32546880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58B28AD-DE9A-408B-A794-67A708DAFC76}" type="datetimeFigureOut">
              <a:rPr lang="en-IN" smtClean="0"/>
              <a:t>01-06-2025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7FAE37E-C499-46EE-A034-B3D7234A371F}" type="slidenum">
              <a:rPr lang="en-IN" smtClean="0"/>
              <a:t>‹#›</a:t>
            </a:fld>
            <a:endParaRPr lang="en-IN"/>
          </a:p>
        </p:txBody>
      </p:sp>
    </p:spTree>
    <p:extLst>
      <p:ext uri="{BB962C8B-B14F-4D97-AF65-F5344CB8AC3E}">
        <p14:creationId xmlns:p14="http://schemas.microsoft.com/office/powerpoint/2010/main" val="39906155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58B28AD-DE9A-408B-A794-67A708DAFC76}" type="datetimeFigureOut">
              <a:rPr lang="en-IN" smtClean="0"/>
              <a:t>01-06-2025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7FAE37E-C499-46EE-A034-B3D7234A371F}" type="slidenum">
              <a:rPr lang="en-IN" smtClean="0"/>
              <a:t>‹#›</a:t>
            </a:fld>
            <a:endParaRPr lang="en-IN"/>
          </a:p>
        </p:txBody>
      </p:sp>
    </p:spTree>
    <p:extLst>
      <p:ext uri="{BB962C8B-B14F-4D97-AF65-F5344CB8AC3E}">
        <p14:creationId xmlns:p14="http://schemas.microsoft.com/office/powerpoint/2010/main" val="10591276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958B28AD-DE9A-408B-A794-67A708DAFC76}" type="datetimeFigureOut">
              <a:rPr lang="en-IN" smtClean="0"/>
              <a:t>01-06-2025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7FAE37E-C499-46EE-A034-B3D7234A371F}" type="slidenum">
              <a:rPr lang="en-IN" smtClean="0"/>
              <a:t>‹#›</a:t>
            </a:fld>
            <a:endParaRPr lang="en-IN"/>
          </a:p>
        </p:txBody>
      </p:sp>
    </p:spTree>
    <p:extLst>
      <p:ext uri="{BB962C8B-B14F-4D97-AF65-F5344CB8AC3E}">
        <p14:creationId xmlns:p14="http://schemas.microsoft.com/office/powerpoint/2010/main" val="3344023330"/>
      </p:ext>
    </p:extLst>
  </p:cSld>
  <p:clrMap bg1="lt1" tx1="dk1" bg2="lt2" tx2="dk2" accent1="accent1" accent2="accent2" accent3="accent3" accent4="accent4" accent5="accent5" accent6="accent6" hlink="hlink" folHlink="folHlink"/>
  <p:sldLayoutIdLst>
    <p:sldLayoutId id="2147483938" r:id="rId1"/>
    <p:sldLayoutId id="2147483939" r:id="rId2"/>
    <p:sldLayoutId id="2147483940" r:id="rId3"/>
    <p:sldLayoutId id="2147483941" r:id="rId4"/>
    <p:sldLayoutId id="2147483942" r:id="rId5"/>
    <p:sldLayoutId id="2147483943" r:id="rId6"/>
    <p:sldLayoutId id="2147483944" r:id="rId7"/>
    <p:sldLayoutId id="2147483945" r:id="rId8"/>
    <p:sldLayoutId id="2147483946" r:id="rId9"/>
    <p:sldLayoutId id="2147483947" r:id="rId10"/>
    <p:sldLayoutId id="2147483948" r:id="rId11"/>
    <p:sldLayoutId id="2147483949" r:id="rId12"/>
    <p:sldLayoutId id="2147483950" r:id="rId13"/>
    <p:sldLayoutId id="2147483951" r:id="rId14"/>
    <p:sldLayoutId id="2147483952" r:id="rId15"/>
    <p:sldLayoutId id="214748395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comments" Target="../comments/comment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comments" Target="../comments/comment4.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omments" Target="../comments/comment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comments" Target="../comments/comment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comments" Target="../comments/comment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comments" Target="../comments/comment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omments" Target="../comments/comment9.xml"/><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comments" Target="../comments/comment10.xml"/><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comments" Target="../comments/comment11.xml"/><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webp"/><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3E84A-5F70-196C-C554-F1DDEDAD29B0}"/>
              </a:ext>
            </a:extLst>
          </p:cNvPr>
          <p:cNvSpPr>
            <a:spLocks noGrp="1"/>
          </p:cNvSpPr>
          <p:nvPr>
            <p:ph type="ctrTitle"/>
          </p:nvPr>
        </p:nvSpPr>
        <p:spPr/>
        <p:txBody>
          <a:bodyPr/>
          <a:lstStyle/>
          <a:p>
            <a:r>
              <a:rPr lang="en-US" dirty="0"/>
              <a:t>Agentic AI and Game Theory</a:t>
            </a:r>
            <a:endParaRPr lang="en-IN" dirty="0"/>
          </a:p>
        </p:txBody>
      </p:sp>
      <p:sp>
        <p:nvSpPr>
          <p:cNvPr id="3" name="Subtitle 2">
            <a:extLst>
              <a:ext uri="{FF2B5EF4-FFF2-40B4-BE49-F238E27FC236}">
                <a16:creationId xmlns:a16="http://schemas.microsoft.com/office/drawing/2014/main" id="{3BAF956F-DF66-78DA-C9BB-660A11B05353}"/>
              </a:ext>
            </a:extLst>
          </p:cNvPr>
          <p:cNvSpPr>
            <a:spLocks noGrp="1"/>
          </p:cNvSpPr>
          <p:nvPr>
            <p:ph type="subTitle" idx="1"/>
          </p:nvPr>
        </p:nvSpPr>
        <p:spPr/>
        <p:txBody>
          <a:bodyPr/>
          <a:lstStyle/>
          <a:p>
            <a:r>
              <a:rPr lang="en-US" dirty="0"/>
              <a:t>Rishi Bharadwaj</a:t>
            </a:r>
          </a:p>
          <a:p>
            <a:r>
              <a:rPr lang="en-US" dirty="0"/>
              <a:t>26-5-25</a:t>
            </a:r>
            <a:endParaRPr lang="en-IN" dirty="0"/>
          </a:p>
        </p:txBody>
      </p:sp>
    </p:spTree>
    <p:extLst>
      <p:ext uri="{BB962C8B-B14F-4D97-AF65-F5344CB8AC3E}">
        <p14:creationId xmlns:p14="http://schemas.microsoft.com/office/powerpoint/2010/main" val="16534955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F5CE-B565-FB73-6B46-703C1F927C73}"/>
              </a:ext>
            </a:extLst>
          </p:cNvPr>
          <p:cNvSpPr>
            <a:spLocks noGrp="1"/>
          </p:cNvSpPr>
          <p:nvPr>
            <p:ph type="title"/>
          </p:nvPr>
        </p:nvSpPr>
        <p:spPr/>
        <p:txBody>
          <a:bodyPr/>
          <a:lstStyle/>
          <a:p>
            <a:pPr algn="ctr"/>
            <a:r>
              <a:rPr lang="en-US" dirty="0"/>
              <a:t>What is an Agent?</a:t>
            </a:r>
            <a:endParaRPr lang="en-IN" dirty="0"/>
          </a:p>
        </p:txBody>
      </p:sp>
      <p:sp>
        <p:nvSpPr>
          <p:cNvPr id="3" name="Content Placeholder 2">
            <a:extLst>
              <a:ext uri="{FF2B5EF4-FFF2-40B4-BE49-F238E27FC236}">
                <a16:creationId xmlns:a16="http://schemas.microsoft.com/office/drawing/2014/main" id="{BB012386-C54F-F5B0-3F67-EBCD0537BEAC}"/>
              </a:ext>
            </a:extLst>
          </p:cNvPr>
          <p:cNvSpPr>
            <a:spLocks noGrp="1"/>
          </p:cNvSpPr>
          <p:nvPr>
            <p:ph idx="1"/>
          </p:nvPr>
        </p:nvSpPr>
        <p:spPr/>
        <p:txBody>
          <a:bodyPr>
            <a:normAutofit/>
          </a:bodyPr>
          <a:lstStyle/>
          <a:p>
            <a:r>
              <a:rPr lang="en-US" dirty="0"/>
              <a:t>AI Agents are autonomous software entities engineered for goal-directed task execution within bounded digital environments.</a:t>
            </a:r>
          </a:p>
        </p:txBody>
      </p:sp>
      <p:sp>
        <p:nvSpPr>
          <p:cNvPr id="4" name="Rectangle 3">
            <a:extLst>
              <a:ext uri="{FF2B5EF4-FFF2-40B4-BE49-F238E27FC236}">
                <a16:creationId xmlns:a16="http://schemas.microsoft.com/office/drawing/2014/main" id="{EBCD39AA-6A7D-0DA5-E4ED-877FAC23791E}"/>
              </a:ext>
            </a:extLst>
          </p:cNvPr>
          <p:cNvSpPr/>
          <p:nvPr/>
        </p:nvSpPr>
        <p:spPr>
          <a:xfrm>
            <a:off x="2958368" y="3981723"/>
            <a:ext cx="1404519" cy="7721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Agent</a:t>
            </a:r>
            <a:endParaRPr lang="en-IN" dirty="0">
              <a:ln w="0"/>
              <a:solidFill>
                <a:schemeClr val="bg1"/>
              </a:solidFill>
              <a:effectLst>
                <a:outerShdw blurRad="38100" dist="19050" dir="2700000" algn="tl" rotWithShape="0">
                  <a:schemeClr val="dk1">
                    <a:alpha val="40000"/>
                  </a:schemeClr>
                </a:outerShdw>
              </a:effectLst>
            </a:endParaRPr>
          </a:p>
        </p:txBody>
      </p:sp>
      <p:sp>
        <p:nvSpPr>
          <p:cNvPr id="5" name="Rectangle 4">
            <a:extLst>
              <a:ext uri="{FF2B5EF4-FFF2-40B4-BE49-F238E27FC236}">
                <a16:creationId xmlns:a16="http://schemas.microsoft.com/office/drawing/2014/main" id="{25784A80-6EAF-125C-7DBC-6C02EE17D26B}"/>
              </a:ext>
            </a:extLst>
          </p:cNvPr>
          <p:cNvSpPr/>
          <p:nvPr/>
        </p:nvSpPr>
        <p:spPr>
          <a:xfrm>
            <a:off x="7247514" y="3998696"/>
            <a:ext cx="1404519" cy="7721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Environment</a:t>
            </a:r>
            <a:endParaRPr lang="en-IN" dirty="0">
              <a:ln w="0"/>
              <a:solidFill>
                <a:schemeClr val="bg1"/>
              </a:solidFill>
              <a:effectLst>
                <a:outerShdw blurRad="38100" dist="19050" dir="2700000" algn="tl" rotWithShape="0">
                  <a:schemeClr val="dk1">
                    <a:alpha val="40000"/>
                  </a:schemeClr>
                </a:outerShdw>
              </a:effectLst>
            </a:endParaRPr>
          </a:p>
        </p:txBody>
      </p:sp>
      <p:sp>
        <p:nvSpPr>
          <p:cNvPr id="6" name="Arc 5">
            <a:extLst>
              <a:ext uri="{FF2B5EF4-FFF2-40B4-BE49-F238E27FC236}">
                <a16:creationId xmlns:a16="http://schemas.microsoft.com/office/drawing/2014/main" id="{73A3566A-E168-77D8-1B49-D63D557A008D}"/>
              </a:ext>
            </a:extLst>
          </p:cNvPr>
          <p:cNvSpPr/>
          <p:nvPr/>
        </p:nvSpPr>
        <p:spPr>
          <a:xfrm rot="10800000" flipV="1">
            <a:off x="4362885" y="3252426"/>
            <a:ext cx="3116275" cy="1459895"/>
          </a:xfrm>
          <a:prstGeom prst="arc">
            <a:avLst>
              <a:gd name="adj1" fmla="val 10737892"/>
              <a:gd name="adj2" fmla="val 21565722"/>
            </a:avLst>
          </a:prstGeom>
          <a:ln>
            <a:headEnd type="none" w="med" len="med"/>
            <a:tailEnd type="arrow" w="med" len="med"/>
          </a:ln>
        </p:spPr>
        <p:style>
          <a:lnRef idx="3">
            <a:schemeClr val="dk1"/>
          </a:lnRef>
          <a:fillRef idx="0">
            <a:schemeClr val="dk1"/>
          </a:fillRef>
          <a:effectRef idx="2">
            <a:schemeClr val="dk1"/>
          </a:effectRef>
          <a:fontRef idx="minor">
            <a:schemeClr val="tx1"/>
          </a:fontRef>
        </p:style>
        <p:txBody>
          <a:bodyPr rtlCol="0" anchor="t"/>
          <a:lstStyle/>
          <a:p>
            <a:pPr algn="ctr"/>
            <a:r>
              <a:rPr lang="en-US" dirty="0"/>
              <a:t>State</a:t>
            </a:r>
            <a:endParaRPr lang="en-IN" dirty="0"/>
          </a:p>
        </p:txBody>
      </p:sp>
      <p:cxnSp>
        <p:nvCxnSpPr>
          <p:cNvPr id="7" name="Straight Arrow Connector 6">
            <a:extLst>
              <a:ext uri="{FF2B5EF4-FFF2-40B4-BE49-F238E27FC236}">
                <a16:creationId xmlns:a16="http://schemas.microsoft.com/office/drawing/2014/main" id="{6A52775E-A396-1A2A-6257-AF777FAB22AC}"/>
              </a:ext>
            </a:extLst>
          </p:cNvPr>
          <p:cNvCxnSpPr>
            <a:cxnSpLocks/>
            <a:endCxn id="5" idx="1"/>
          </p:cNvCxnSpPr>
          <p:nvPr/>
        </p:nvCxnSpPr>
        <p:spPr>
          <a:xfrm flipV="1">
            <a:off x="4436036" y="4384770"/>
            <a:ext cx="2811478" cy="1288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46" name="TextBox 45">
            <a:extLst>
              <a:ext uri="{FF2B5EF4-FFF2-40B4-BE49-F238E27FC236}">
                <a16:creationId xmlns:a16="http://schemas.microsoft.com/office/drawing/2014/main" id="{BC1EF5AC-6265-E039-089B-57B850B019CB}"/>
              </a:ext>
            </a:extLst>
          </p:cNvPr>
          <p:cNvSpPr txBox="1"/>
          <p:nvPr/>
        </p:nvSpPr>
        <p:spPr>
          <a:xfrm>
            <a:off x="5406647" y="4007067"/>
            <a:ext cx="870256" cy="369332"/>
          </a:xfrm>
          <a:prstGeom prst="rect">
            <a:avLst/>
          </a:prstGeom>
          <a:noFill/>
          <a:effectLst>
            <a:outerShdw blurRad="50800" dist="38100" dir="10800000" algn="r" rotWithShape="0">
              <a:prstClr val="black">
                <a:alpha val="40000"/>
              </a:prstClr>
            </a:outerShdw>
          </a:effectLst>
        </p:spPr>
        <p:txBody>
          <a:bodyPr wrap="square" rtlCol="0">
            <a:spAutoFit/>
          </a:bodyPr>
          <a:lstStyle/>
          <a:p>
            <a:r>
              <a:rPr lang="en-US" dirty="0"/>
              <a:t>Action</a:t>
            </a:r>
            <a:endParaRPr lang="en-IN" dirty="0"/>
          </a:p>
        </p:txBody>
      </p:sp>
      <p:sp>
        <p:nvSpPr>
          <p:cNvPr id="48" name="Arc 47">
            <a:extLst>
              <a:ext uri="{FF2B5EF4-FFF2-40B4-BE49-F238E27FC236}">
                <a16:creationId xmlns:a16="http://schemas.microsoft.com/office/drawing/2014/main" id="{675EBEB7-AA2F-951F-A5DA-CFF75E656EAA}"/>
              </a:ext>
            </a:extLst>
          </p:cNvPr>
          <p:cNvSpPr/>
          <p:nvPr/>
        </p:nvSpPr>
        <p:spPr>
          <a:xfrm rot="5400000">
            <a:off x="4874793" y="3115170"/>
            <a:ext cx="2036712" cy="3172022"/>
          </a:xfrm>
          <a:prstGeom prst="arc">
            <a:avLst>
              <a:gd name="adj1" fmla="val 16358186"/>
              <a:gd name="adj2" fmla="val 5147761"/>
            </a:avLst>
          </a:prstGeom>
          <a:ln>
            <a:headEnd type="none" w="med" len="med"/>
            <a:tailEnd type="arrow" w="med" len="med"/>
          </a:ln>
        </p:spPr>
        <p:style>
          <a:lnRef idx="3">
            <a:schemeClr val="dk1"/>
          </a:lnRef>
          <a:fillRef idx="0">
            <a:schemeClr val="dk1"/>
          </a:fillRef>
          <a:effectRef idx="2">
            <a:schemeClr val="dk1"/>
          </a:effectRef>
          <a:fontRef idx="minor">
            <a:schemeClr val="tx1"/>
          </a:fontRef>
        </p:style>
        <p:txBody>
          <a:bodyPr vert="vert270" rtlCol="0" anchor="b"/>
          <a:lstStyle/>
          <a:p>
            <a:pPr algn="ctr"/>
            <a:r>
              <a:rPr lang="en-US" dirty="0"/>
              <a:t>Reward</a:t>
            </a:r>
            <a:endParaRPr lang="en-IN" dirty="0"/>
          </a:p>
        </p:txBody>
      </p:sp>
    </p:spTree>
    <p:extLst>
      <p:ext uri="{BB962C8B-B14F-4D97-AF65-F5344CB8AC3E}">
        <p14:creationId xmlns:p14="http://schemas.microsoft.com/office/powerpoint/2010/main" val="7682405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5A2C5-3538-3589-F92F-300B5AE21268}"/>
              </a:ext>
            </a:extLst>
          </p:cNvPr>
          <p:cNvSpPr>
            <a:spLocks noGrp="1"/>
          </p:cNvSpPr>
          <p:nvPr>
            <p:ph type="title"/>
          </p:nvPr>
        </p:nvSpPr>
        <p:spPr/>
        <p:txBody>
          <a:bodyPr/>
          <a:lstStyle/>
          <a:p>
            <a:r>
              <a:rPr lang="en-US" dirty="0"/>
              <a:t>What is Agentic AI?</a:t>
            </a:r>
            <a:endParaRPr lang="en-IN" dirty="0"/>
          </a:p>
        </p:txBody>
      </p:sp>
      <p:sp>
        <p:nvSpPr>
          <p:cNvPr id="3" name="Content Placeholder 2">
            <a:extLst>
              <a:ext uri="{FF2B5EF4-FFF2-40B4-BE49-F238E27FC236}">
                <a16:creationId xmlns:a16="http://schemas.microsoft.com/office/drawing/2014/main" id="{A2ACDB94-690F-E368-5732-B84154E685D3}"/>
              </a:ext>
            </a:extLst>
          </p:cNvPr>
          <p:cNvSpPr>
            <a:spLocks noGrp="1"/>
          </p:cNvSpPr>
          <p:nvPr>
            <p:ph idx="1"/>
          </p:nvPr>
        </p:nvSpPr>
        <p:spPr/>
        <p:txBody>
          <a:bodyPr>
            <a:normAutofit/>
          </a:bodyPr>
          <a:lstStyle/>
          <a:p>
            <a:r>
              <a:rPr lang="en-US" dirty="0"/>
              <a:t>Agentic AI describes a class of intelligent systems where multiple specialized AI agents collaborate, communicate, and coordinate to achieve multi-step goals. </a:t>
            </a:r>
            <a:endParaRPr lang="en-US" b="0" i="0" dirty="0">
              <a:solidFill>
                <a:srgbClr val="161616"/>
              </a:solidFill>
              <a:effectLst/>
              <a:latin typeface="IBM Plex Sans" panose="020B0503050203000203" pitchFamily="34" charset="0"/>
            </a:endParaRPr>
          </a:p>
          <a:p>
            <a:r>
              <a:rPr lang="en-US" dirty="0"/>
              <a:t>Orchestration: Meta-agents or higher-level controllers help coordinate tasks between the different agents.</a:t>
            </a:r>
          </a:p>
          <a:p>
            <a:r>
              <a:rPr lang="en-US" dirty="0"/>
              <a:t>Shared Memory: Different agents may share memory to aid with communication.</a:t>
            </a:r>
          </a:p>
          <a:p>
            <a:r>
              <a:rPr lang="en-US" dirty="0"/>
              <a:t>For example, consider a drone-based package delivery system. Each drone would have its own agent responsible for its flight, and there could be one higher level controller that decides which drone gets which package.</a:t>
            </a:r>
          </a:p>
        </p:txBody>
      </p:sp>
    </p:spTree>
    <p:extLst>
      <p:ext uri="{BB962C8B-B14F-4D97-AF65-F5344CB8AC3E}">
        <p14:creationId xmlns:p14="http://schemas.microsoft.com/office/powerpoint/2010/main" val="37169759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EC18B-B52D-62E9-9E72-49AD630E7D57}"/>
              </a:ext>
            </a:extLst>
          </p:cNvPr>
          <p:cNvSpPr>
            <a:spLocks noGrp="1"/>
          </p:cNvSpPr>
          <p:nvPr>
            <p:ph type="title"/>
          </p:nvPr>
        </p:nvSpPr>
        <p:spPr/>
        <p:txBody>
          <a:bodyPr/>
          <a:lstStyle/>
          <a:p>
            <a:r>
              <a:rPr lang="en-US" dirty="0"/>
              <a:t>LLMs as AI Agents</a:t>
            </a:r>
            <a:endParaRPr lang="en-IN" dirty="0"/>
          </a:p>
        </p:txBody>
      </p:sp>
      <p:sp>
        <p:nvSpPr>
          <p:cNvPr id="3" name="Content Placeholder 2">
            <a:extLst>
              <a:ext uri="{FF2B5EF4-FFF2-40B4-BE49-F238E27FC236}">
                <a16:creationId xmlns:a16="http://schemas.microsoft.com/office/drawing/2014/main" id="{3F68A2FF-B27F-8B58-6410-540DCC2E8108}"/>
              </a:ext>
            </a:extLst>
          </p:cNvPr>
          <p:cNvSpPr>
            <a:spLocks noGrp="1"/>
          </p:cNvSpPr>
          <p:nvPr>
            <p:ph idx="1"/>
          </p:nvPr>
        </p:nvSpPr>
        <p:spPr/>
        <p:txBody>
          <a:bodyPr/>
          <a:lstStyle/>
          <a:p>
            <a:r>
              <a:rPr lang="en-US" dirty="0"/>
              <a:t>Within AI agent architectures, LLMs serve as the primary decision-making engine.</a:t>
            </a:r>
          </a:p>
          <a:p>
            <a:r>
              <a:rPr lang="en-US" dirty="0"/>
              <a:t>They allow the agent to parse user queries</a:t>
            </a:r>
          </a:p>
          <a:p>
            <a:r>
              <a:rPr lang="en-US" dirty="0"/>
              <a:t>They can plan multi-step solutions</a:t>
            </a:r>
          </a:p>
          <a:p>
            <a:r>
              <a:rPr lang="en-US" dirty="0"/>
              <a:t>They can generate naturalistic responses.</a:t>
            </a:r>
            <a:endParaRPr lang="en-IN" dirty="0"/>
          </a:p>
        </p:txBody>
      </p:sp>
    </p:spTree>
    <p:extLst>
      <p:ext uri="{BB962C8B-B14F-4D97-AF65-F5344CB8AC3E}">
        <p14:creationId xmlns:p14="http://schemas.microsoft.com/office/powerpoint/2010/main" val="1729676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AE9D0-97BE-39C9-6AC0-10EA346EE220}"/>
              </a:ext>
            </a:extLst>
          </p:cNvPr>
          <p:cNvSpPr>
            <a:spLocks noGrp="1"/>
          </p:cNvSpPr>
          <p:nvPr>
            <p:ph type="title"/>
          </p:nvPr>
        </p:nvSpPr>
        <p:spPr/>
        <p:txBody>
          <a:bodyPr>
            <a:normAutofit/>
          </a:bodyPr>
          <a:lstStyle/>
          <a:p>
            <a:r>
              <a:rPr lang="en-US" dirty="0"/>
              <a:t>Core Architectural Components of AI Agents</a:t>
            </a:r>
            <a:endParaRPr lang="en-IN" dirty="0"/>
          </a:p>
        </p:txBody>
      </p:sp>
      <p:graphicFrame>
        <p:nvGraphicFramePr>
          <p:cNvPr id="10" name="Content Placeholder 9">
            <a:extLst>
              <a:ext uri="{FF2B5EF4-FFF2-40B4-BE49-F238E27FC236}">
                <a16:creationId xmlns:a16="http://schemas.microsoft.com/office/drawing/2014/main" id="{B811CF2E-5423-D3F9-C239-F6E29E206FCB}"/>
              </a:ext>
            </a:extLst>
          </p:cNvPr>
          <p:cNvGraphicFramePr>
            <a:graphicFrameLocks noGrp="1"/>
          </p:cNvGraphicFramePr>
          <p:nvPr>
            <p:ph idx="1"/>
            <p:extLst>
              <p:ext uri="{D42A27DB-BD31-4B8C-83A1-F6EECF244321}">
                <p14:modId xmlns:p14="http://schemas.microsoft.com/office/powerpoint/2010/main" val="2951969923"/>
              </p:ext>
            </p:extLst>
          </p:nvPr>
        </p:nvGraphicFramePr>
        <p:xfrm>
          <a:off x="819303" y="1799539"/>
          <a:ext cx="9699956" cy="41437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TextBox 10">
            <a:extLst>
              <a:ext uri="{FF2B5EF4-FFF2-40B4-BE49-F238E27FC236}">
                <a16:creationId xmlns:a16="http://schemas.microsoft.com/office/drawing/2014/main" id="{37CC3D82-7742-49AF-E49F-94A7176CB357}"/>
              </a:ext>
            </a:extLst>
          </p:cNvPr>
          <p:cNvSpPr txBox="1"/>
          <p:nvPr/>
        </p:nvSpPr>
        <p:spPr>
          <a:xfrm>
            <a:off x="819302" y="3911938"/>
            <a:ext cx="2030599" cy="2031325"/>
          </a:xfrm>
          <a:prstGeom prst="rect">
            <a:avLst/>
          </a:prstGeom>
          <a:noFill/>
        </p:spPr>
        <p:txBody>
          <a:bodyPr wrap="square" rtlCol="0">
            <a:spAutoFit/>
          </a:bodyPr>
          <a:lstStyle/>
          <a:p>
            <a:r>
              <a:rPr lang="en-US" b="0" i="0" dirty="0">
                <a:solidFill>
                  <a:srgbClr val="000000"/>
                </a:solidFill>
                <a:effectLst/>
                <a:latin typeface="NVIDIA-APAC"/>
              </a:rPr>
              <a:t> AI agents gather and process data from various sources, such as sensors, databases and digital interfaces.</a:t>
            </a:r>
            <a:endParaRPr lang="en-IN" dirty="0"/>
          </a:p>
        </p:txBody>
      </p:sp>
      <p:sp>
        <p:nvSpPr>
          <p:cNvPr id="12" name="TextBox 11">
            <a:extLst>
              <a:ext uri="{FF2B5EF4-FFF2-40B4-BE49-F238E27FC236}">
                <a16:creationId xmlns:a16="http://schemas.microsoft.com/office/drawing/2014/main" id="{4AE7570E-B27C-C77C-DDC7-DAD06B09FD8A}"/>
              </a:ext>
            </a:extLst>
          </p:cNvPr>
          <p:cNvSpPr txBox="1"/>
          <p:nvPr/>
        </p:nvSpPr>
        <p:spPr>
          <a:xfrm>
            <a:off x="3379622" y="4001291"/>
            <a:ext cx="2030599" cy="1754326"/>
          </a:xfrm>
          <a:prstGeom prst="rect">
            <a:avLst/>
          </a:prstGeom>
          <a:noFill/>
        </p:spPr>
        <p:txBody>
          <a:bodyPr wrap="square" rtlCol="0">
            <a:spAutoFit/>
          </a:bodyPr>
          <a:lstStyle/>
          <a:p>
            <a:r>
              <a:rPr lang="en-US" b="0" i="0" dirty="0">
                <a:solidFill>
                  <a:srgbClr val="000000"/>
                </a:solidFill>
                <a:effectLst/>
                <a:latin typeface="NVIDIA-APAC"/>
              </a:rPr>
              <a:t>LLMs act as the “brain” of the agent, performing the reasoning and deciding which action to take.</a:t>
            </a:r>
            <a:endParaRPr lang="en-IN" dirty="0"/>
          </a:p>
        </p:txBody>
      </p:sp>
      <p:sp>
        <p:nvSpPr>
          <p:cNvPr id="13" name="TextBox 12">
            <a:extLst>
              <a:ext uri="{FF2B5EF4-FFF2-40B4-BE49-F238E27FC236}">
                <a16:creationId xmlns:a16="http://schemas.microsoft.com/office/drawing/2014/main" id="{0DD740C3-DE03-046E-C974-BC3D1F3DAC2E}"/>
              </a:ext>
            </a:extLst>
          </p:cNvPr>
          <p:cNvSpPr txBox="1"/>
          <p:nvPr/>
        </p:nvSpPr>
        <p:spPr>
          <a:xfrm>
            <a:off x="6096000" y="3911938"/>
            <a:ext cx="2030599" cy="2031325"/>
          </a:xfrm>
          <a:prstGeom prst="rect">
            <a:avLst/>
          </a:prstGeom>
          <a:noFill/>
        </p:spPr>
        <p:txBody>
          <a:bodyPr wrap="square" rtlCol="0">
            <a:spAutoFit/>
          </a:bodyPr>
          <a:lstStyle/>
          <a:p>
            <a:r>
              <a:rPr lang="en-US" b="0" i="0" dirty="0">
                <a:solidFill>
                  <a:srgbClr val="000000"/>
                </a:solidFill>
                <a:effectLst/>
                <a:latin typeface="NVIDIA-APAC"/>
              </a:rPr>
              <a:t> The actions are then performed, for examp</a:t>
            </a:r>
            <a:r>
              <a:rPr lang="en-US" dirty="0">
                <a:solidFill>
                  <a:srgbClr val="000000"/>
                </a:solidFill>
                <a:latin typeface="NVIDIA-APAC"/>
              </a:rPr>
              <a:t>le querying a database or performing an API call</a:t>
            </a:r>
            <a:endParaRPr lang="en-IN" dirty="0"/>
          </a:p>
        </p:txBody>
      </p:sp>
      <p:sp>
        <p:nvSpPr>
          <p:cNvPr id="14" name="TextBox 13">
            <a:extLst>
              <a:ext uri="{FF2B5EF4-FFF2-40B4-BE49-F238E27FC236}">
                <a16:creationId xmlns:a16="http://schemas.microsoft.com/office/drawing/2014/main" id="{79F1A1DE-760B-ADDE-E1EE-EFBC18E1B20F}"/>
              </a:ext>
            </a:extLst>
          </p:cNvPr>
          <p:cNvSpPr txBox="1"/>
          <p:nvPr/>
        </p:nvSpPr>
        <p:spPr>
          <a:xfrm>
            <a:off x="8656320" y="4188937"/>
            <a:ext cx="2030599" cy="1477328"/>
          </a:xfrm>
          <a:prstGeom prst="rect">
            <a:avLst/>
          </a:prstGeom>
          <a:noFill/>
        </p:spPr>
        <p:txBody>
          <a:bodyPr wrap="square" rtlCol="0">
            <a:spAutoFit/>
          </a:bodyPr>
          <a:lstStyle/>
          <a:p>
            <a:r>
              <a:rPr lang="en-US" b="0" i="0" dirty="0">
                <a:solidFill>
                  <a:srgbClr val="000000"/>
                </a:solidFill>
                <a:effectLst/>
                <a:latin typeface="NVIDIA-APAC"/>
              </a:rPr>
              <a:t> The payoff from the action is fed back to the LLM, so it can continuously learn and improve.</a:t>
            </a:r>
            <a:endParaRPr lang="en-IN" dirty="0"/>
          </a:p>
        </p:txBody>
      </p:sp>
    </p:spTree>
    <p:extLst>
      <p:ext uri="{BB962C8B-B14F-4D97-AF65-F5344CB8AC3E}">
        <p14:creationId xmlns:p14="http://schemas.microsoft.com/office/powerpoint/2010/main" val="27548928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8AB5F-F61D-0D35-FB55-B61F9995CAD3}"/>
              </a:ext>
            </a:extLst>
          </p:cNvPr>
          <p:cNvSpPr>
            <a:spLocks noGrp="1"/>
          </p:cNvSpPr>
          <p:nvPr>
            <p:ph type="title"/>
          </p:nvPr>
        </p:nvSpPr>
        <p:spPr/>
        <p:txBody>
          <a:bodyPr>
            <a:normAutofit/>
          </a:bodyPr>
          <a:lstStyle/>
          <a:p>
            <a:pPr algn="ctr"/>
            <a:r>
              <a:rPr lang="en-US" dirty="0"/>
              <a:t>Transformers: The Engine Behind Large Language Models</a:t>
            </a:r>
            <a:endParaRPr lang="en-IN" dirty="0"/>
          </a:p>
        </p:txBody>
      </p:sp>
      <p:sp>
        <p:nvSpPr>
          <p:cNvPr id="11" name="Content Placeholder 10">
            <a:extLst>
              <a:ext uri="{FF2B5EF4-FFF2-40B4-BE49-F238E27FC236}">
                <a16:creationId xmlns:a16="http://schemas.microsoft.com/office/drawing/2014/main" id="{0EF9F8A9-7F44-5CCF-B454-1DA19141F6CA}"/>
              </a:ext>
            </a:extLst>
          </p:cNvPr>
          <p:cNvSpPr>
            <a:spLocks noGrp="1"/>
          </p:cNvSpPr>
          <p:nvPr>
            <p:ph idx="1"/>
          </p:nvPr>
        </p:nvSpPr>
        <p:spPr/>
        <p:txBody>
          <a:bodyPr>
            <a:normAutofit/>
          </a:bodyPr>
          <a:lstStyle/>
          <a:p>
            <a:r>
              <a:rPr lang="en-US" dirty="0"/>
              <a:t>The transformer is a neural network with a specific structure that includes a mechanism called self-attention or multi-head attention.</a:t>
            </a:r>
          </a:p>
          <a:p>
            <a:r>
              <a:rPr lang="en-US" dirty="0"/>
              <a:t>Consider the following two sentences:</a:t>
            </a:r>
          </a:p>
          <a:p>
            <a:pPr marL="0" indent="0">
              <a:buNone/>
            </a:pPr>
            <a:r>
              <a:rPr lang="en-US" dirty="0"/>
              <a:t>	The </a:t>
            </a:r>
            <a:r>
              <a:rPr lang="en-US" b="1" dirty="0"/>
              <a:t>chicken</a:t>
            </a:r>
            <a:r>
              <a:rPr lang="en-US" dirty="0"/>
              <a:t> didn’t cross the road because </a:t>
            </a:r>
            <a:r>
              <a:rPr lang="en-US" b="1" dirty="0"/>
              <a:t>it</a:t>
            </a:r>
            <a:r>
              <a:rPr lang="en-US" dirty="0"/>
              <a:t> was too tired.</a:t>
            </a:r>
          </a:p>
          <a:p>
            <a:pPr marL="0" indent="0">
              <a:buNone/>
            </a:pPr>
            <a:r>
              <a:rPr lang="en-US" dirty="0"/>
              <a:t>	The chicken didn’t cross the </a:t>
            </a:r>
            <a:r>
              <a:rPr lang="en-US" b="1" dirty="0"/>
              <a:t>road</a:t>
            </a:r>
            <a:r>
              <a:rPr lang="en-US" dirty="0"/>
              <a:t> because </a:t>
            </a:r>
            <a:r>
              <a:rPr lang="en-US" b="1" dirty="0"/>
              <a:t>it</a:t>
            </a:r>
            <a:r>
              <a:rPr lang="en-US" dirty="0"/>
              <a:t> was too wide. </a:t>
            </a:r>
            <a:endParaRPr lang="en-IN" dirty="0"/>
          </a:p>
          <a:p>
            <a:r>
              <a:rPr lang="en-IN" dirty="0"/>
              <a:t>In these sentences </a:t>
            </a:r>
            <a:r>
              <a:rPr lang="en-IN" b="1" dirty="0"/>
              <a:t>it</a:t>
            </a:r>
            <a:r>
              <a:rPr lang="en-IN" dirty="0"/>
              <a:t> refers to different nouns, but in static embeddings the representation of a word is always the same vector.</a:t>
            </a:r>
          </a:p>
          <a:p>
            <a:r>
              <a:rPr lang="en-US" dirty="0"/>
              <a:t>Transformers can build contextual representations of word meaning, contextual embeddings, by integrating the meaning of these helpful contextual words.</a:t>
            </a:r>
          </a:p>
          <a:p>
            <a:endParaRPr lang="en-US" dirty="0"/>
          </a:p>
          <a:p>
            <a:endParaRPr lang="en-US" dirty="0"/>
          </a:p>
          <a:p>
            <a:endParaRPr lang="en-US" dirty="0"/>
          </a:p>
        </p:txBody>
      </p:sp>
    </p:spTree>
    <p:extLst>
      <p:ext uri="{BB962C8B-B14F-4D97-AF65-F5344CB8AC3E}">
        <p14:creationId xmlns:p14="http://schemas.microsoft.com/office/powerpoint/2010/main" val="21718297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BCD66-039F-BFF4-F7DB-F8F8E363A9E1}"/>
              </a:ext>
            </a:extLst>
          </p:cNvPr>
          <p:cNvSpPr>
            <a:spLocks noGrp="1"/>
          </p:cNvSpPr>
          <p:nvPr>
            <p:ph type="title"/>
          </p:nvPr>
        </p:nvSpPr>
        <p:spPr/>
        <p:txBody>
          <a:bodyPr/>
          <a:lstStyle/>
          <a:p>
            <a:r>
              <a:rPr lang="en-IN" dirty="0"/>
              <a:t>Architecture of the Attention Head</a:t>
            </a:r>
          </a:p>
        </p:txBody>
      </p:sp>
      <p:sp>
        <p:nvSpPr>
          <p:cNvPr id="3" name="Content Placeholder 2">
            <a:extLst>
              <a:ext uri="{FF2B5EF4-FFF2-40B4-BE49-F238E27FC236}">
                <a16:creationId xmlns:a16="http://schemas.microsoft.com/office/drawing/2014/main" id="{367B4BF4-9F83-173A-E5D1-AB3CF17A1F4D}"/>
              </a:ext>
            </a:extLst>
          </p:cNvPr>
          <p:cNvSpPr>
            <a:spLocks noGrp="1"/>
          </p:cNvSpPr>
          <p:nvPr>
            <p:ph idx="1"/>
          </p:nvPr>
        </p:nvSpPr>
        <p:spPr/>
        <p:txBody>
          <a:bodyPr>
            <a:normAutofit/>
          </a:bodyPr>
          <a:lstStyle/>
          <a:p>
            <a:r>
              <a:rPr lang="en-IN" dirty="0"/>
              <a:t>Query Matrix: It represents the current element being compared to preceding inputs.</a:t>
            </a:r>
          </a:p>
          <a:p>
            <a:r>
              <a:rPr lang="en-IN" dirty="0"/>
              <a:t>Key Matrix: It is compared to the Query Matrix to determine similarity weights.</a:t>
            </a:r>
          </a:p>
          <a:p>
            <a:r>
              <a:rPr lang="en-IN" dirty="0"/>
              <a:t>Value Matrix: It is the value of the inputs that gets weighted and summed to compute the output of the current element.</a:t>
            </a:r>
          </a:p>
          <a:p>
            <a:r>
              <a:rPr lang="en-US" dirty="0"/>
              <a:t>When we are computing the similarity of the current element xi with some prior element </a:t>
            </a:r>
            <a:r>
              <a:rPr lang="en-US" dirty="0" err="1"/>
              <a:t>xj</a:t>
            </a:r>
            <a:r>
              <a:rPr lang="en-US" dirty="0"/>
              <a:t> , we’ll use the dot product between the current element’s query vector qi and the preceding element’s key vector </a:t>
            </a:r>
            <a:r>
              <a:rPr lang="en-US" dirty="0" err="1"/>
              <a:t>kj</a:t>
            </a:r>
            <a:r>
              <a:rPr lang="en-US" dirty="0"/>
              <a:t> .</a:t>
            </a:r>
            <a:endParaRPr lang="en-IN" dirty="0"/>
          </a:p>
        </p:txBody>
      </p:sp>
    </p:spTree>
    <p:extLst>
      <p:ext uri="{BB962C8B-B14F-4D97-AF65-F5344CB8AC3E}">
        <p14:creationId xmlns:p14="http://schemas.microsoft.com/office/powerpoint/2010/main" val="25365385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8D9651E-5DAD-99D6-ADB1-F0AA5BECBB74}"/>
              </a:ext>
            </a:extLst>
          </p:cNvPr>
          <p:cNvPicPr>
            <a:picLocks noChangeAspect="1"/>
          </p:cNvPicPr>
          <p:nvPr/>
        </p:nvPicPr>
        <p:blipFill>
          <a:blip r:embed="rId2"/>
          <a:stretch>
            <a:fillRect/>
          </a:stretch>
        </p:blipFill>
        <p:spPr>
          <a:xfrm>
            <a:off x="2539349" y="1559353"/>
            <a:ext cx="7887186" cy="3739293"/>
          </a:xfrm>
          <a:prstGeom prst="rect">
            <a:avLst/>
          </a:prstGeom>
        </p:spPr>
      </p:pic>
    </p:spTree>
    <p:extLst>
      <p:ext uri="{BB962C8B-B14F-4D97-AF65-F5344CB8AC3E}">
        <p14:creationId xmlns:p14="http://schemas.microsoft.com/office/powerpoint/2010/main" val="6641513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7B46B-BC9C-286E-0C39-0FF6A601809C}"/>
              </a:ext>
            </a:extLst>
          </p:cNvPr>
          <p:cNvSpPr>
            <a:spLocks noGrp="1"/>
          </p:cNvSpPr>
          <p:nvPr>
            <p:ph type="title"/>
          </p:nvPr>
        </p:nvSpPr>
        <p:spPr/>
        <p:txBody>
          <a:bodyPr/>
          <a:lstStyle/>
          <a:p>
            <a:r>
              <a:rPr lang="en-US" dirty="0"/>
              <a:t>Game Theory and Agentic AI</a:t>
            </a:r>
            <a:endParaRPr lang="en-IN" dirty="0"/>
          </a:p>
        </p:txBody>
      </p:sp>
      <p:sp>
        <p:nvSpPr>
          <p:cNvPr id="3" name="Content Placeholder 2">
            <a:extLst>
              <a:ext uri="{FF2B5EF4-FFF2-40B4-BE49-F238E27FC236}">
                <a16:creationId xmlns:a16="http://schemas.microsoft.com/office/drawing/2014/main" id="{12F14082-9286-A87C-13D7-B230B893B5C0}"/>
              </a:ext>
            </a:extLst>
          </p:cNvPr>
          <p:cNvSpPr>
            <a:spLocks noGrp="1"/>
          </p:cNvSpPr>
          <p:nvPr>
            <p:ph idx="1"/>
          </p:nvPr>
        </p:nvSpPr>
        <p:spPr/>
        <p:txBody>
          <a:bodyPr/>
          <a:lstStyle/>
          <a:p>
            <a:r>
              <a:rPr lang="en-US" dirty="0"/>
              <a:t>Areas where game theory is being used in the context of AI Agents are:</a:t>
            </a:r>
          </a:p>
          <a:p>
            <a:r>
              <a:rPr lang="en-US" dirty="0"/>
              <a:t>Testing the ability of LLM Agents on strategic games.</a:t>
            </a:r>
          </a:p>
          <a:p>
            <a:r>
              <a:rPr lang="en-US" dirty="0"/>
              <a:t>Using concepts from game theory such as Shapley Value to improve understanding of LLM functioning.</a:t>
            </a:r>
          </a:p>
          <a:p>
            <a:r>
              <a:rPr lang="en-US" dirty="0"/>
              <a:t>Using concepts from game theory such as Nash Equilibrium to improve algorithm design in scenarios where there are multiple agents.</a:t>
            </a:r>
          </a:p>
          <a:p>
            <a:r>
              <a:rPr lang="en-US" dirty="0"/>
              <a:t>AI Agents are being trained to bid in auctions.</a:t>
            </a:r>
          </a:p>
        </p:txBody>
      </p:sp>
    </p:spTree>
    <p:extLst>
      <p:ext uri="{BB962C8B-B14F-4D97-AF65-F5344CB8AC3E}">
        <p14:creationId xmlns:p14="http://schemas.microsoft.com/office/powerpoint/2010/main" val="4154720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C0CC4-BD12-4E4B-080F-2EB6117C040C}"/>
              </a:ext>
            </a:extLst>
          </p:cNvPr>
          <p:cNvSpPr>
            <a:spLocks noGrp="1"/>
          </p:cNvSpPr>
          <p:nvPr>
            <p:ph type="title"/>
          </p:nvPr>
        </p:nvSpPr>
        <p:spPr/>
        <p:txBody>
          <a:bodyPr/>
          <a:lstStyle/>
          <a:p>
            <a:r>
              <a:rPr lang="en-US" dirty="0"/>
              <a:t>C</a:t>
            </a:r>
            <a:r>
              <a:rPr lang="en-IN" dirty="0"/>
              <a:t>an LLMs play classic strategy games</a:t>
            </a:r>
          </a:p>
        </p:txBody>
      </p:sp>
      <p:sp>
        <p:nvSpPr>
          <p:cNvPr id="3" name="Content Placeholder 2">
            <a:extLst>
              <a:ext uri="{FF2B5EF4-FFF2-40B4-BE49-F238E27FC236}">
                <a16:creationId xmlns:a16="http://schemas.microsoft.com/office/drawing/2014/main" id="{3506EE1A-594B-5207-7982-10B1FADEF241}"/>
              </a:ext>
            </a:extLst>
          </p:cNvPr>
          <p:cNvSpPr>
            <a:spLocks noGrp="1"/>
          </p:cNvSpPr>
          <p:nvPr>
            <p:ph idx="1"/>
          </p:nvPr>
        </p:nvSpPr>
        <p:spPr>
          <a:xfrm>
            <a:off x="677334" y="1930400"/>
            <a:ext cx="8596668" cy="3880773"/>
          </a:xfrm>
        </p:spPr>
        <p:txBody>
          <a:bodyPr/>
          <a:lstStyle/>
          <a:p>
            <a:r>
              <a:rPr lang="en-US" dirty="0"/>
              <a:t>Benchmarks like </a:t>
            </a:r>
            <a:r>
              <a:rPr lang="en-US" dirty="0" err="1"/>
              <a:t>AgentBench</a:t>
            </a:r>
            <a:r>
              <a:rPr lang="en-US" dirty="0"/>
              <a:t> and </a:t>
            </a:r>
            <a:r>
              <a:rPr lang="en-US" dirty="0" err="1"/>
              <a:t>GTBench</a:t>
            </a:r>
            <a:r>
              <a:rPr lang="en-US" dirty="0"/>
              <a:t> test LLMs' strategic reasoning in matrix, negotiation, and deception games (e.g., Werewolf).</a:t>
            </a:r>
          </a:p>
          <a:p>
            <a:r>
              <a:rPr lang="en-US" dirty="0"/>
              <a:t>Benchmarks like </a:t>
            </a:r>
            <a:r>
              <a:rPr lang="en-US" dirty="0" err="1"/>
              <a:t>TMGbench</a:t>
            </a:r>
            <a:r>
              <a:rPr lang="en-US" dirty="0"/>
              <a:t> have tested multiple LLMs across 144 different 2x2 games using different prompting styles such as direct prompting and </a:t>
            </a:r>
            <a:r>
              <a:rPr lang="en-US" dirty="0" err="1"/>
              <a:t>CoT</a:t>
            </a:r>
            <a:r>
              <a:rPr lang="en-US" dirty="0"/>
              <a:t> prompting.</a:t>
            </a:r>
          </a:p>
          <a:p>
            <a:r>
              <a:rPr lang="en-US" dirty="0"/>
              <a:t>LLM’s often struggle in classic matrix games, not finding the optimal strategy.</a:t>
            </a:r>
          </a:p>
          <a:p>
            <a:endParaRPr lang="en-US" dirty="0"/>
          </a:p>
          <a:p>
            <a:endParaRPr lang="en-US" dirty="0"/>
          </a:p>
        </p:txBody>
      </p:sp>
      <p:pic>
        <p:nvPicPr>
          <p:cNvPr id="5" name="Picture 4">
            <a:extLst>
              <a:ext uri="{FF2B5EF4-FFF2-40B4-BE49-F238E27FC236}">
                <a16:creationId xmlns:a16="http://schemas.microsoft.com/office/drawing/2014/main" id="{717D8331-42A7-2504-5999-1E8720C721D8}"/>
              </a:ext>
            </a:extLst>
          </p:cNvPr>
          <p:cNvPicPr>
            <a:picLocks noChangeAspect="1"/>
          </p:cNvPicPr>
          <p:nvPr/>
        </p:nvPicPr>
        <p:blipFill>
          <a:blip r:embed="rId2"/>
          <a:stretch>
            <a:fillRect/>
          </a:stretch>
        </p:blipFill>
        <p:spPr>
          <a:xfrm>
            <a:off x="2509308" y="4079030"/>
            <a:ext cx="5361847" cy="2594996"/>
          </a:xfrm>
          <a:prstGeom prst="rect">
            <a:avLst/>
          </a:prstGeom>
        </p:spPr>
      </p:pic>
    </p:spTree>
    <p:extLst>
      <p:ext uri="{BB962C8B-B14F-4D97-AF65-F5344CB8AC3E}">
        <p14:creationId xmlns:p14="http://schemas.microsoft.com/office/powerpoint/2010/main" val="15844189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DD3C0-521E-BC3B-DAC8-1DDB48CB88DF}"/>
              </a:ext>
            </a:extLst>
          </p:cNvPr>
          <p:cNvSpPr>
            <a:spLocks noGrp="1"/>
          </p:cNvSpPr>
          <p:nvPr>
            <p:ph type="title"/>
          </p:nvPr>
        </p:nvSpPr>
        <p:spPr/>
        <p:txBody>
          <a:bodyPr>
            <a:normAutofit/>
          </a:bodyPr>
          <a:lstStyle/>
          <a:p>
            <a:pPr algn="ctr"/>
            <a:r>
              <a:rPr lang="en-IN" dirty="0"/>
              <a:t>Understanding LLM performance with Game Theory</a:t>
            </a:r>
          </a:p>
        </p:txBody>
      </p:sp>
      <p:sp>
        <p:nvSpPr>
          <p:cNvPr id="3" name="Content Placeholder 2">
            <a:extLst>
              <a:ext uri="{FF2B5EF4-FFF2-40B4-BE49-F238E27FC236}">
                <a16:creationId xmlns:a16="http://schemas.microsoft.com/office/drawing/2014/main" id="{3C7B29A1-38F5-D054-1D1F-A49C22B267C7}"/>
              </a:ext>
            </a:extLst>
          </p:cNvPr>
          <p:cNvSpPr>
            <a:spLocks noGrp="1"/>
          </p:cNvSpPr>
          <p:nvPr>
            <p:ph idx="1"/>
          </p:nvPr>
        </p:nvSpPr>
        <p:spPr/>
        <p:txBody>
          <a:bodyPr>
            <a:normAutofit/>
          </a:bodyPr>
          <a:lstStyle/>
          <a:p>
            <a:r>
              <a:rPr lang="en-US" dirty="0"/>
              <a:t>Game theory principles are also being applied to understand and improve LLMs.</a:t>
            </a:r>
          </a:p>
          <a:p>
            <a:r>
              <a:rPr lang="en-US" dirty="0"/>
              <a:t>For example, when considering a sentence, how the LLM assigns weight to each word is not fully understood.</a:t>
            </a:r>
          </a:p>
          <a:p>
            <a:r>
              <a:rPr lang="en-US" dirty="0"/>
              <a:t>To further understand this, one approach has been to calculate the Shapley value of each word (input token) in the sentence.</a:t>
            </a:r>
          </a:p>
          <a:p>
            <a:r>
              <a:rPr lang="en-US" dirty="0"/>
              <a:t>This helps understand the contribution of each input token to the final output of the LLM.</a:t>
            </a:r>
            <a:endParaRPr lang="en-IN" dirty="0"/>
          </a:p>
        </p:txBody>
      </p:sp>
    </p:spTree>
    <p:extLst>
      <p:ext uri="{BB962C8B-B14F-4D97-AF65-F5344CB8AC3E}">
        <p14:creationId xmlns:p14="http://schemas.microsoft.com/office/powerpoint/2010/main" val="16168957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A51A5-2D17-71F5-121F-CAADE20716E3}"/>
              </a:ext>
            </a:extLst>
          </p:cNvPr>
          <p:cNvSpPr>
            <a:spLocks noGrp="1"/>
          </p:cNvSpPr>
          <p:nvPr>
            <p:ph type="title"/>
          </p:nvPr>
        </p:nvSpPr>
        <p:spPr/>
        <p:txBody>
          <a:bodyPr/>
          <a:lstStyle/>
          <a:p>
            <a:r>
              <a:rPr lang="en-US" dirty="0"/>
              <a:t>Algorithmic Innovation</a:t>
            </a:r>
            <a:endParaRPr lang="en-IN" dirty="0"/>
          </a:p>
        </p:txBody>
      </p:sp>
      <p:sp>
        <p:nvSpPr>
          <p:cNvPr id="3" name="Content Placeholder 2">
            <a:extLst>
              <a:ext uri="{FF2B5EF4-FFF2-40B4-BE49-F238E27FC236}">
                <a16:creationId xmlns:a16="http://schemas.microsoft.com/office/drawing/2014/main" id="{C1EF60C1-C2DD-5FEA-D4BB-B8A35ADCDDDD}"/>
              </a:ext>
            </a:extLst>
          </p:cNvPr>
          <p:cNvSpPr>
            <a:spLocks noGrp="1"/>
          </p:cNvSpPr>
          <p:nvPr>
            <p:ph idx="1"/>
          </p:nvPr>
        </p:nvSpPr>
        <p:spPr/>
        <p:txBody>
          <a:bodyPr/>
          <a:lstStyle/>
          <a:p>
            <a:r>
              <a:rPr lang="en-US" dirty="0"/>
              <a:t>Some game theory concepts are also being used to change how agents behave in MARL scenarios.</a:t>
            </a:r>
          </a:p>
          <a:p>
            <a:r>
              <a:rPr lang="en-US" dirty="0"/>
              <a:t>For example, in Nash Q-Learning, each agent attempts to learns its equilibrium Q-value by maintaining models of other agents’ Q-values and predicting their best responses.</a:t>
            </a:r>
          </a:p>
          <a:p>
            <a:r>
              <a:rPr lang="en-US" dirty="0"/>
              <a:t>This is in contrast to normal Q-learning where other agents are assumed to be stationary parts of the environment.</a:t>
            </a:r>
          </a:p>
        </p:txBody>
      </p:sp>
    </p:spTree>
    <p:extLst>
      <p:ext uri="{BB962C8B-B14F-4D97-AF65-F5344CB8AC3E}">
        <p14:creationId xmlns:p14="http://schemas.microsoft.com/office/powerpoint/2010/main" val="11880179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B7B8C-EC27-0563-63F9-0D51ED645E94}"/>
              </a:ext>
            </a:extLst>
          </p:cNvPr>
          <p:cNvSpPr>
            <a:spLocks noGrp="1"/>
          </p:cNvSpPr>
          <p:nvPr>
            <p:ph type="title"/>
          </p:nvPr>
        </p:nvSpPr>
        <p:spPr/>
        <p:txBody>
          <a:bodyPr/>
          <a:lstStyle/>
          <a:p>
            <a:r>
              <a:rPr lang="en-IN" dirty="0"/>
              <a:t>Agentic AI use in Auctions</a:t>
            </a:r>
          </a:p>
        </p:txBody>
      </p:sp>
      <p:sp>
        <p:nvSpPr>
          <p:cNvPr id="3" name="Content Placeholder 2">
            <a:extLst>
              <a:ext uri="{FF2B5EF4-FFF2-40B4-BE49-F238E27FC236}">
                <a16:creationId xmlns:a16="http://schemas.microsoft.com/office/drawing/2014/main" id="{05233CB8-F18C-276B-06E3-9CA7DF58A30A}"/>
              </a:ext>
            </a:extLst>
          </p:cNvPr>
          <p:cNvSpPr>
            <a:spLocks noGrp="1"/>
          </p:cNvSpPr>
          <p:nvPr>
            <p:ph idx="1"/>
          </p:nvPr>
        </p:nvSpPr>
        <p:spPr/>
        <p:txBody>
          <a:bodyPr>
            <a:normAutofit/>
          </a:bodyPr>
          <a:lstStyle/>
          <a:p>
            <a:r>
              <a:rPr lang="en-US" dirty="0"/>
              <a:t>S</a:t>
            </a:r>
            <a:r>
              <a:rPr lang="en-IN" dirty="0" err="1"/>
              <a:t>everal</a:t>
            </a:r>
            <a:r>
              <a:rPr lang="en-IN" dirty="0"/>
              <a:t> studies have been carried out where AI agents are used to bid against each other in first price and second price auction.</a:t>
            </a:r>
          </a:p>
          <a:p>
            <a:r>
              <a:rPr lang="en-IN" dirty="0"/>
              <a:t>Some of the areas of interest in these studies are determining if the agents play the dominant strategy in second price auctions and in determining whether they collude to reduce prices.</a:t>
            </a:r>
          </a:p>
          <a:p>
            <a:r>
              <a:rPr lang="en-IN" dirty="0"/>
              <a:t>One study (</a:t>
            </a:r>
            <a:r>
              <a:rPr lang="en-IN" dirty="0" err="1"/>
              <a:t>Banchio</a:t>
            </a:r>
            <a:r>
              <a:rPr lang="en-IN" dirty="0"/>
              <a:t> &amp; </a:t>
            </a:r>
            <a:r>
              <a:rPr lang="en-IN" dirty="0" err="1"/>
              <a:t>Skrzypacz</a:t>
            </a:r>
            <a:r>
              <a:rPr lang="en-IN" dirty="0"/>
              <a:t>, 2022) found that agents trained using Q-learning converged to bid the max possible bid in SPA and colluded to submit a much lower bid in FPA.</a:t>
            </a:r>
          </a:p>
          <a:p>
            <a:r>
              <a:rPr lang="en-IN" dirty="0"/>
              <a:t>Another study (</a:t>
            </a:r>
            <a:r>
              <a:rPr lang="en-IN" dirty="0" err="1"/>
              <a:t>Kolumbus</a:t>
            </a:r>
            <a:r>
              <a:rPr lang="en-IN" dirty="0"/>
              <a:t> &amp; Nisan, 2022) using regret-minimising agents found that the agents did not necessarily converge to the dominant Nash equilibria.</a:t>
            </a:r>
            <a:endParaRPr lang="en-US" dirty="0"/>
          </a:p>
        </p:txBody>
      </p:sp>
    </p:spTree>
    <p:extLst>
      <p:ext uri="{BB962C8B-B14F-4D97-AF65-F5344CB8AC3E}">
        <p14:creationId xmlns:p14="http://schemas.microsoft.com/office/powerpoint/2010/main" val="31840363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C9F74-DD63-6BFF-73D6-7DD6EE3F1A65}"/>
              </a:ext>
            </a:extLst>
          </p:cNvPr>
          <p:cNvSpPr>
            <a:spLocks noGrp="1"/>
          </p:cNvSpPr>
          <p:nvPr>
            <p:ph type="title"/>
          </p:nvPr>
        </p:nvSpPr>
        <p:spPr/>
        <p:txBody>
          <a:bodyPr>
            <a:normAutofit/>
          </a:bodyPr>
          <a:lstStyle/>
          <a:p>
            <a:r>
              <a:rPr lang="en-US" dirty="0"/>
              <a:t>Strategic Language Agents in Werewolf</a:t>
            </a:r>
            <a:endParaRPr lang="en-IN" dirty="0"/>
          </a:p>
        </p:txBody>
      </p:sp>
      <p:sp>
        <p:nvSpPr>
          <p:cNvPr id="3" name="Content Placeholder 2">
            <a:extLst>
              <a:ext uri="{FF2B5EF4-FFF2-40B4-BE49-F238E27FC236}">
                <a16:creationId xmlns:a16="http://schemas.microsoft.com/office/drawing/2014/main" id="{88AFCC71-395C-0719-8341-905E68A90163}"/>
              </a:ext>
            </a:extLst>
          </p:cNvPr>
          <p:cNvSpPr>
            <a:spLocks noGrp="1"/>
          </p:cNvSpPr>
          <p:nvPr>
            <p:ph idx="1"/>
          </p:nvPr>
        </p:nvSpPr>
        <p:spPr/>
        <p:txBody>
          <a:bodyPr>
            <a:normAutofit/>
          </a:bodyPr>
          <a:lstStyle/>
          <a:p>
            <a:r>
              <a:rPr lang="en-US" dirty="0"/>
              <a:t>LLMs have also been tested on more complex strategy games such as Werewolf.</a:t>
            </a:r>
          </a:p>
          <a:p>
            <a:r>
              <a:rPr lang="en-US" dirty="0"/>
              <a:t>Use an LLM to extract structured beliefs (facts, potential truths/deceptions) and deduce player roles from dialogue history.</a:t>
            </a:r>
          </a:p>
          <a:p>
            <a:r>
              <a:rPr lang="en-US" dirty="0"/>
              <a:t>Prompt LLM to propose multiple diverse action candidates to mitigate intrinsic bias.</a:t>
            </a:r>
          </a:p>
          <a:p>
            <a:r>
              <a:rPr lang="en-US" dirty="0"/>
              <a:t>Feed the observation and all action candidates to an RL policy that determines the action distribution.</a:t>
            </a:r>
            <a:endParaRPr lang="en-IN" dirty="0"/>
          </a:p>
        </p:txBody>
      </p:sp>
    </p:spTree>
    <p:extLst>
      <p:ext uri="{BB962C8B-B14F-4D97-AF65-F5344CB8AC3E}">
        <p14:creationId xmlns:p14="http://schemas.microsoft.com/office/powerpoint/2010/main" val="30416147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7350A-633C-FD60-1F2E-CB0C211FE770}"/>
              </a:ext>
            </a:extLst>
          </p:cNvPr>
          <p:cNvSpPr>
            <a:spLocks noGrp="1"/>
          </p:cNvSpPr>
          <p:nvPr>
            <p:ph type="title"/>
          </p:nvPr>
        </p:nvSpPr>
        <p:spPr/>
        <p:txBody>
          <a:bodyPr>
            <a:normAutofit/>
          </a:bodyPr>
          <a:lstStyle/>
          <a:p>
            <a:r>
              <a:rPr lang="en-IN" dirty="0"/>
              <a:t>Game-Theoretic Workflow Design</a:t>
            </a:r>
            <a:br>
              <a:rPr lang="en-IN" b="1" dirty="0"/>
            </a:br>
            <a:endParaRPr lang="en-IN" dirty="0"/>
          </a:p>
        </p:txBody>
      </p:sp>
      <p:sp>
        <p:nvSpPr>
          <p:cNvPr id="3" name="Content Placeholder 2">
            <a:extLst>
              <a:ext uri="{FF2B5EF4-FFF2-40B4-BE49-F238E27FC236}">
                <a16:creationId xmlns:a16="http://schemas.microsoft.com/office/drawing/2014/main" id="{39EA900E-629E-6C3C-A5DD-9C4FA44B4908}"/>
              </a:ext>
            </a:extLst>
          </p:cNvPr>
          <p:cNvSpPr>
            <a:spLocks noGrp="1"/>
          </p:cNvSpPr>
          <p:nvPr>
            <p:ph idx="1"/>
          </p:nvPr>
        </p:nvSpPr>
        <p:spPr/>
        <p:txBody>
          <a:bodyPr>
            <a:normAutofit/>
          </a:bodyPr>
          <a:lstStyle/>
          <a:p>
            <a:r>
              <a:rPr lang="en-US" dirty="0"/>
              <a:t>Without guidance, LLMs often fail to reach Nash Equilibrium, especially in complex or sequential games.</a:t>
            </a:r>
          </a:p>
          <a:p>
            <a:r>
              <a:rPr lang="en-US" dirty="0"/>
              <a:t>Researchers developed structured workflows based on classic game theory to guide LLM agents.</a:t>
            </a:r>
          </a:p>
          <a:p>
            <a:r>
              <a:rPr lang="en-US" dirty="0"/>
              <a:t>For simultaneous games, agents compute best responses iteratively to find Nash Equilibria.</a:t>
            </a:r>
          </a:p>
          <a:p>
            <a:r>
              <a:rPr lang="en-US" dirty="0"/>
              <a:t>For sequential games, agents use backward induction over decision trees to derive optimal strategies.</a:t>
            </a:r>
          </a:p>
          <a:p>
            <a:endParaRPr lang="en-IN" dirty="0"/>
          </a:p>
        </p:txBody>
      </p:sp>
      <p:sp>
        <p:nvSpPr>
          <p:cNvPr id="4" name="Rectangle 1">
            <a:extLst>
              <a:ext uri="{FF2B5EF4-FFF2-40B4-BE49-F238E27FC236}">
                <a16:creationId xmlns:a16="http://schemas.microsoft.com/office/drawing/2014/main" id="{1CCFA4CD-FA02-1E3F-9F8B-10F21DBBB8DC}"/>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For </a:t>
            </a:r>
            <a:r>
              <a:rPr kumimoji="0" lang="en-US" altLang="en-US" sz="1800" b="1" i="0" u="none" strike="noStrike" cap="none" normalizeH="0" baseline="0">
                <a:ln>
                  <a:noFill/>
                </a:ln>
                <a:solidFill>
                  <a:schemeClr val="tx1"/>
                </a:solidFill>
                <a:effectLst/>
                <a:latin typeface="Arial" panose="020B0604020202020204" pitchFamily="34" charset="0"/>
              </a:rPr>
              <a:t>simultaneous games</a:t>
            </a:r>
            <a:r>
              <a:rPr kumimoji="0" lang="en-US" altLang="en-US" sz="1800" b="0" i="0" u="none" strike="noStrike" cap="none" normalizeH="0" baseline="0">
                <a:ln>
                  <a:noFill/>
                </a:ln>
                <a:solidFill>
                  <a:schemeClr val="tx1"/>
                </a:solidFill>
                <a:effectLst/>
                <a:latin typeface="Arial" panose="020B0604020202020204" pitchFamily="34" charset="0"/>
              </a:rPr>
              <a:t>, agents compute best responses iteratively to find Nash Equilibria.</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130373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981793CE-DF9B-E900-205A-5B7D5FBF1A30}"/>
              </a:ext>
            </a:extLst>
          </p:cNvPr>
          <p:cNvSpPr/>
          <p:nvPr/>
        </p:nvSpPr>
        <p:spPr>
          <a:xfrm>
            <a:off x="3805547" y="2906485"/>
            <a:ext cx="1531916" cy="368135"/>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Oval 6">
            <a:extLst>
              <a:ext uri="{FF2B5EF4-FFF2-40B4-BE49-F238E27FC236}">
                <a16:creationId xmlns:a16="http://schemas.microsoft.com/office/drawing/2014/main" id="{E7DD4919-B90E-3DCE-98A0-6B1EE723C923}"/>
              </a:ext>
            </a:extLst>
          </p:cNvPr>
          <p:cNvSpPr/>
          <p:nvPr/>
        </p:nvSpPr>
        <p:spPr>
          <a:xfrm>
            <a:off x="3016332" y="1080655"/>
            <a:ext cx="1531916" cy="368135"/>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Picture 8">
            <a:extLst>
              <a:ext uri="{FF2B5EF4-FFF2-40B4-BE49-F238E27FC236}">
                <a16:creationId xmlns:a16="http://schemas.microsoft.com/office/drawing/2014/main" id="{967D2B94-83F8-0D07-7C4D-CC53C62DBE51}"/>
              </a:ext>
            </a:extLst>
          </p:cNvPr>
          <p:cNvPicPr>
            <a:picLocks noChangeAspect="1"/>
          </p:cNvPicPr>
          <p:nvPr/>
        </p:nvPicPr>
        <p:blipFill>
          <a:blip r:embed="rId2"/>
          <a:stretch>
            <a:fillRect/>
          </a:stretch>
        </p:blipFill>
        <p:spPr>
          <a:xfrm>
            <a:off x="1185172" y="1785720"/>
            <a:ext cx="7431689" cy="4496327"/>
          </a:xfrm>
          <a:prstGeom prst="rect">
            <a:avLst/>
          </a:prstGeom>
        </p:spPr>
      </p:pic>
      <p:sp>
        <p:nvSpPr>
          <p:cNvPr id="10" name="TextBox 9">
            <a:extLst>
              <a:ext uri="{FF2B5EF4-FFF2-40B4-BE49-F238E27FC236}">
                <a16:creationId xmlns:a16="http://schemas.microsoft.com/office/drawing/2014/main" id="{D792D41A-2247-31D6-77FA-FE87B8142FBF}"/>
              </a:ext>
            </a:extLst>
          </p:cNvPr>
          <p:cNvSpPr txBox="1"/>
          <p:nvPr/>
        </p:nvSpPr>
        <p:spPr>
          <a:xfrm>
            <a:off x="1104405" y="6282047"/>
            <a:ext cx="9535886" cy="369332"/>
          </a:xfrm>
          <a:prstGeom prst="rect">
            <a:avLst/>
          </a:prstGeom>
          <a:noFill/>
        </p:spPr>
        <p:txBody>
          <a:bodyPr wrap="square" rtlCol="0">
            <a:spAutoFit/>
          </a:bodyPr>
          <a:lstStyle/>
          <a:p>
            <a:r>
              <a:rPr lang="en-US" dirty="0"/>
              <a:t>Hua et al., </a:t>
            </a:r>
            <a:r>
              <a:rPr lang="en-US" i="1" dirty="0"/>
              <a:t>Game-theoretic LLM: Agent Workflow for Negotiation Games</a:t>
            </a:r>
            <a:r>
              <a:rPr lang="en-US" dirty="0"/>
              <a:t>, 2024</a:t>
            </a:r>
            <a:endParaRPr lang="en-IN" dirty="0"/>
          </a:p>
        </p:txBody>
      </p:sp>
    </p:spTree>
    <p:extLst>
      <p:ext uri="{BB962C8B-B14F-4D97-AF65-F5344CB8AC3E}">
        <p14:creationId xmlns:p14="http://schemas.microsoft.com/office/powerpoint/2010/main" val="22742639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277A5-14F7-61CB-1653-F51A5B3C3620}"/>
              </a:ext>
            </a:extLst>
          </p:cNvPr>
          <p:cNvSpPr>
            <a:spLocks noGrp="1"/>
          </p:cNvSpPr>
          <p:nvPr>
            <p:ph type="title"/>
          </p:nvPr>
        </p:nvSpPr>
        <p:spPr/>
        <p:txBody>
          <a:bodyPr/>
          <a:lstStyle/>
          <a:p>
            <a:r>
              <a:rPr lang="en-US" dirty="0"/>
              <a:t>Chain of Thought Prompting</a:t>
            </a:r>
            <a:endParaRPr lang="en-IN" dirty="0"/>
          </a:p>
        </p:txBody>
      </p:sp>
      <p:pic>
        <p:nvPicPr>
          <p:cNvPr id="5" name="Content Placeholder 4">
            <a:extLst>
              <a:ext uri="{FF2B5EF4-FFF2-40B4-BE49-F238E27FC236}">
                <a16:creationId xmlns:a16="http://schemas.microsoft.com/office/drawing/2014/main" id="{F72588CF-49B0-6D58-D622-8BAF8D6CCF35}"/>
              </a:ext>
            </a:extLst>
          </p:cNvPr>
          <p:cNvPicPr>
            <a:picLocks noGrp="1" noChangeAspect="1"/>
          </p:cNvPicPr>
          <p:nvPr>
            <p:ph idx="1"/>
          </p:nvPr>
        </p:nvPicPr>
        <p:blipFill>
          <a:blip r:embed="rId2"/>
          <a:stretch>
            <a:fillRect/>
          </a:stretch>
        </p:blipFill>
        <p:spPr>
          <a:xfrm>
            <a:off x="1166460" y="2160588"/>
            <a:ext cx="7619117" cy="3881437"/>
          </a:xfrm>
        </p:spPr>
      </p:pic>
    </p:spTree>
    <p:extLst>
      <p:ext uri="{BB962C8B-B14F-4D97-AF65-F5344CB8AC3E}">
        <p14:creationId xmlns:p14="http://schemas.microsoft.com/office/powerpoint/2010/main" val="37470964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91186-34C0-E43A-69B5-249864ED1737}"/>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65C0023C-E6AE-A9B1-B365-4DE9CF941A92}"/>
              </a:ext>
            </a:extLst>
          </p:cNvPr>
          <p:cNvSpPr>
            <a:spLocks noGrp="1"/>
          </p:cNvSpPr>
          <p:nvPr>
            <p:ph idx="1"/>
          </p:nvPr>
        </p:nvSpPr>
        <p:spPr>
          <a:xfrm>
            <a:off x="677334" y="1782217"/>
            <a:ext cx="8596668" cy="3880773"/>
          </a:xfrm>
        </p:spPr>
        <p:txBody>
          <a:bodyPr>
            <a:normAutofit/>
          </a:bodyPr>
          <a:lstStyle/>
          <a:p>
            <a:pPr marL="0" indent="0">
              <a:buNone/>
            </a:pPr>
            <a:endParaRPr lang="en-IN" dirty="0"/>
          </a:p>
          <a:p>
            <a:r>
              <a:rPr lang="en-US" dirty="0"/>
              <a:t>Throughout this journey, we’ve seen how Agentic AI leverages multiple agents working together to solve complex problems.</a:t>
            </a:r>
          </a:p>
          <a:p>
            <a:r>
              <a:rPr lang="en-US" dirty="0"/>
              <a:t>We explored how LLMs play a central role, acting as the “brain” of these agents.</a:t>
            </a:r>
          </a:p>
          <a:p>
            <a:r>
              <a:rPr lang="en-US" dirty="0"/>
              <a:t>Game theory principles, like Nash equilibria and Shapley values, help us understand and improve how these agents reason and interact.</a:t>
            </a:r>
          </a:p>
          <a:p>
            <a:r>
              <a:rPr lang="en-US" dirty="0"/>
              <a:t>Though we’ve made progress, challenges remain—LLMs still struggle with strategic reasoning in benchmarks and auctions.</a:t>
            </a:r>
          </a:p>
          <a:p>
            <a:r>
              <a:rPr lang="en-US" dirty="0"/>
              <a:t>Combining agentic AI with game theory is opening exciting new possibilities, and the best is yet to come.</a:t>
            </a:r>
          </a:p>
          <a:p>
            <a:endParaRPr lang="en-IN"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36159886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751A44-7D74-34BF-6EBF-579B0B756E08}"/>
              </a:ext>
            </a:extLst>
          </p:cNvPr>
          <p:cNvSpPr>
            <a:spLocks noGrp="1"/>
          </p:cNvSpPr>
          <p:nvPr>
            <p:ph type="title"/>
          </p:nvPr>
        </p:nvSpPr>
        <p:spPr/>
        <p:txBody>
          <a:bodyPr/>
          <a:lstStyle/>
          <a:p>
            <a:r>
              <a:rPr lang="en-US" dirty="0"/>
              <a:t>Appendix</a:t>
            </a:r>
            <a:endParaRPr lang="en-IN" dirty="0"/>
          </a:p>
        </p:txBody>
      </p:sp>
    </p:spTree>
    <p:extLst>
      <p:ext uri="{BB962C8B-B14F-4D97-AF65-F5344CB8AC3E}">
        <p14:creationId xmlns:p14="http://schemas.microsoft.com/office/powerpoint/2010/main" val="20124894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05F41-0453-9250-85C2-F27A5A441C14}"/>
              </a:ext>
            </a:extLst>
          </p:cNvPr>
          <p:cNvSpPr>
            <a:spLocks noGrp="1"/>
          </p:cNvSpPr>
          <p:nvPr>
            <p:ph type="title"/>
          </p:nvPr>
        </p:nvSpPr>
        <p:spPr/>
        <p:txBody>
          <a:bodyPr/>
          <a:lstStyle/>
          <a:p>
            <a:r>
              <a:rPr lang="en-IN" dirty="0"/>
              <a:t>Markov Decision Process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9EFD8CA-12CE-CEDF-3BBF-8E5FE416F65F}"/>
                  </a:ext>
                </a:extLst>
              </p:cNvPr>
              <p:cNvSpPr>
                <a:spLocks noGrp="1"/>
              </p:cNvSpPr>
              <p:nvPr>
                <p:ph idx="1"/>
              </p:nvPr>
            </p:nvSpPr>
            <p:spPr/>
            <p:txBody>
              <a:bodyPr/>
              <a:lstStyle/>
              <a:p>
                <a:r>
                  <a:rPr lang="en-IN" dirty="0"/>
                  <a:t>An MDP is defined by the following:</a:t>
                </a:r>
              </a:p>
              <a:p>
                <a:endParaRPr lang="en-IN" dirty="0"/>
              </a:p>
              <a:p>
                <a:r>
                  <a:rPr lang="en-IN" dirty="0"/>
                  <a:t>S: Set of states(possible situations)</a:t>
                </a:r>
              </a:p>
              <a:p>
                <a:r>
                  <a:rPr lang="en-IN" dirty="0"/>
                  <a:t>A: Set of actions(choices the agent can make)</a:t>
                </a:r>
              </a:p>
              <a:p>
                <a:r>
                  <a:rPr lang="en-IN" dirty="0"/>
                  <a:t>P: Markovian transition function: </a:t>
                </a:r>
                <a14:m>
                  <m:oMath xmlns:m="http://schemas.openxmlformats.org/officeDocument/2006/math">
                    <m:r>
                      <a:rPr lang="en-IN" b="0" i="1" smtClean="0">
                        <a:latin typeface="Cambria Math" panose="02040503050406030204" pitchFamily="18" charset="0"/>
                      </a:rPr>
                      <m:t>𝑃</m:t>
                    </m:r>
                    <m:d>
                      <m:dPr>
                        <m:endChr m:val="|"/>
                        <m:ctrlPr>
                          <a:rPr lang="en-IN" b="0" i="1" smtClean="0">
                            <a:latin typeface="Cambria Math" panose="02040503050406030204" pitchFamily="18" charset="0"/>
                          </a:rPr>
                        </m:ctrlPr>
                      </m:dPr>
                      <m:e>
                        <m:sSup>
                          <m:sSupPr>
                            <m:ctrlPr>
                              <a:rPr lang="en-IN" b="0" i="1" smtClean="0">
                                <a:latin typeface="Cambria Math" panose="02040503050406030204" pitchFamily="18" charset="0"/>
                              </a:rPr>
                            </m:ctrlPr>
                          </m:sSupPr>
                          <m:e>
                            <m:r>
                              <a:rPr lang="en-IN" b="0" i="1" smtClean="0">
                                <a:latin typeface="Cambria Math" panose="02040503050406030204" pitchFamily="18" charset="0"/>
                              </a:rPr>
                              <m:t>𝑠</m:t>
                            </m:r>
                          </m:e>
                          <m:sup>
                            <m:r>
                              <a:rPr lang="en-IN" b="0" i="1" smtClean="0">
                                <a:latin typeface="Cambria Math" panose="02040503050406030204" pitchFamily="18" charset="0"/>
                              </a:rPr>
                              <m:t>′</m:t>
                            </m:r>
                          </m:sup>
                        </m:sSup>
                      </m:e>
                    </m:d>
                    <m:r>
                      <a:rPr lang="en-IN" b="0" i="1" smtClean="0">
                        <a:latin typeface="Cambria Math" panose="02040503050406030204" pitchFamily="18" charset="0"/>
                      </a:rPr>
                      <m:t> </m:t>
                    </m:r>
                    <m:r>
                      <a:rPr lang="en-IN" b="0" i="1" smtClean="0">
                        <a:latin typeface="Cambria Math" panose="02040503050406030204" pitchFamily="18" charset="0"/>
                      </a:rPr>
                      <m:t>𝑠</m:t>
                    </m:r>
                    <m:r>
                      <a:rPr lang="en-IN" b="0" i="1" smtClean="0">
                        <a:latin typeface="Cambria Math" panose="02040503050406030204" pitchFamily="18" charset="0"/>
                      </a:rPr>
                      <m:t>, </m:t>
                    </m:r>
                    <m:r>
                      <a:rPr lang="en-IN" b="0" i="1" smtClean="0">
                        <a:latin typeface="Cambria Math" panose="02040503050406030204" pitchFamily="18" charset="0"/>
                      </a:rPr>
                      <m:t>𝑎</m:t>
                    </m:r>
                    <m:r>
                      <a:rPr lang="en-IN" b="0" i="1" smtClean="0">
                        <a:latin typeface="Cambria Math" panose="02040503050406030204" pitchFamily="18" charset="0"/>
                      </a:rPr>
                      <m:t>)</m:t>
                    </m:r>
                  </m:oMath>
                </a14:m>
                <a:endParaRPr lang="en-IN" dirty="0"/>
              </a:p>
              <a:p>
                <a:r>
                  <a:rPr lang="en-IN" dirty="0"/>
                  <a:t>R : Reward function(Reward the agent gets in state s)</a:t>
                </a:r>
              </a:p>
            </p:txBody>
          </p:sp>
        </mc:Choice>
        <mc:Fallback xmlns="">
          <p:sp>
            <p:nvSpPr>
              <p:cNvPr id="3" name="Content Placeholder 2">
                <a:extLst>
                  <a:ext uri="{FF2B5EF4-FFF2-40B4-BE49-F238E27FC236}">
                    <a16:creationId xmlns:a16="http://schemas.microsoft.com/office/drawing/2014/main" id="{F9EFD8CA-12CE-CEDF-3BBF-8E5FE416F65F}"/>
                  </a:ext>
                </a:extLst>
              </p:cNvPr>
              <p:cNvSpPr>
                <a:spLocks noGrp="1" noRot="1" noChangeAspect="1" noMove="1" noResize="1" noEditPoints="1" noAdjustHandles="1" noChangeArrowheads="1" noChangeShapeType="1" noTextEdit="1"/>
              </p:cNvSpPr>
              <p:nvPr>
                <p:ph idx="1"/>
              </p:nvPr>
            </p:nvSpPr>
            <p:spPr>
              <a:blipFill>
                <a:blip r:embed="rId2"/>
                <a:stretch>
                  <a:fillRect l="-314" t="-1818"/>
                </a:stretch>
              </a:blipFill>
            </p:spPr>
            <p:txBody>
              <a:bodyPr/>
              <a:lstStyle/>
              <a:p>
                <a:r>
                  <a:rPr lang="en-IN">
                    <a:noFill/>
                  </a:rPr>
                  <a:t> </a:t>
                </a:r>
              </a:p>
            </p:txBody>
          </p:sp>
        </mc:Fallback>
      </mc:AlternateContent>
    </p:spTree>
    <p:extLst>
      <p:ext uri="{BB962C8B-B14F-4D97-AF65-F5344CB8AC3E}">
        <p14:creationId xmlns:p14="http://schemas.microsoft.com/office/powerpoint/2010/main" val="34575660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4D037-4F35-DB65-A3EF-6DB585C30987}"/>
              </a:ext>
            </a:extLst>
          </p:cNvPr>
          <p:cNvSpPr>
            <a:spLocks noGrp="1"/>
          </p:cNvSpPr>
          <p:nvPr>
            <p:ph type="title"/>
          </p:nvPr>
        </p:nvSpPr>
        <p:spPr/>
        <p:txBody>
          <a:bodyPr/>
          <a:lstStyle/>
          <a:p>
            <a:r>
              <a:rPr lang="en-IN" dirty="0"/>
              <a:t>Utility Function</a:t>
            </a:r>
          </a:p>
        </p:txBody>
      </p:sp>
      <p:sp>
        <p:nvSpPr>
          <p:cNvPr id="3" name="Content Placeholder 2">
            <a:extLst>
              <a:ext uri="{FF2B5EF4-FFF2-40B4-BE49-F238E27FC236}">
                <a16:creationId xmlns:a16="http://schemas.microsoft.com/office/drawing/2014/main" id="{9EFB0CB3-E6C8-6D4E-3DC2-DACC292E37CE}"/>
              </a:ext>
            </a:extLst>
          </p:cNvPr>
          <p:cNvSpPr>
            <a:spLocks noGrp="1"/>
          </p:cNvSpPr>
          <p:nvPr>
            <p:ph idx="1"/>
          </p:nvPr>
        </p:nvSpPr>
        <p:spPr/>
        <p:txBody>
          <a:bodyPr>
            <a:normAutofit/>
          </a:bodyPr>
          <a:lstStyle/>
          <a:p>
            <a:r>
              <a:rPr lang="en-US" dirty="0"/>
              <a:t>The agent’s preferences are captured by a utility function, U(s), which assigns a single number to express the desirability of a state.</a:t>
            </a:r>
          </a:p>
          <a:p>
            <a:r>
              <a:rPr lang="en-US" dirty="0"/>
              <a:t>The expected utility of an action given the current state, EU (</a:t>
            </a:r>
            <a:r>
              <a:rPr lang="en-US" dirty="0" err="1"/>
              <a:t>a|s</a:t>
            </a:r>
            <a:r>
              <a:rPr lang="en-US" dirty="0"/>
              <a:t>), is just the average utility value of the possible next states, weighted by the probability that the next state occurs:</a:t>
            </a:r>
          </a:p>
          <a:p>
            <a:endParaRPr lang="en-US" dirty="0"/>
          </a:p>
          <a:p>
            <a:endParaRPr lang="en-US" dirty="0"/>
          </a:p>
          <a:p>
            <a:r>
              <a:rPr lang="en-US" dirty="0"/>
              <a:t>The principle of maximum expected utility (MEU) says that a rational agent should choose the action that maximizes the agent’s expected utility.</a:t>
            </a: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AB95A74C-778A-9B5C-AFBA-956D11D31477}"/>
                  </a:ext>
                </a:extLst>
              </p:cNvPr>
              <p:cNvSpPr txBox="1"/>
              <p:nvPr/>
            </p:nvSpPr>
            <p:spPr>
              <a:xfrm>
                <a:off x="2516429" y="3650286"/>
                <a:ext cx="5727801" cy="74719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IN" sz="2000" i="1" smtClean="0">
                          <a:latin typeface="Cambria Math" panose="02040503050406030204" pitchFamily="18" charset="0"/>
                        </a:rPr>
                        <m:t>𝐸𝑈</m:t>
                      </m:r>
                      <m:d>
                        <m:dPr>
                          <m:ctrlPr>
                            <a:rPr lang="en-IN" sz="2000" i="1">
                              <a:latin typeface="Cambria Math" panose="02040503050406030204" pitchFamily="18" charset="0"/>
                            </a:rPr>
                          </m:ctrlPr>
                        </m:dPr>
                        <m:e>
                          <m:r>
                            <a:rPr lang="en-IN" sz="2000" i="1">
                              <a:latin typeface="Cambria Math" panose="02040503050406030204" pitchFamily="18" charset="0"/>
                            </a:rPr>
                            <m:t>𝑎</m:t>
                          </m:r>
                        </m:e>
                        <m:e>
                          <m:r>
                            <a:rPr lang="en-IN" sz="2000" b="0" i="1" smtClean="0">
                              <a:latin typeface="Cambria Math" panose="02040503050406030204" pitchFamily="18" charset="0"/>
                            </a:rPr>
                            <m:t>𝑠</m:t>
                          </m:r>
                        </m:e>
                      </m:d>
                      <m:r>
                        <a:rPr lang="pt-BR" sz="2000" b="0" i="1" smtClean="0">
                          <a:latin typeface="Cambria Math" panose="02040503050406030204" pitchFamily="18" charset="0"/>
                        </a:rPr>
                        <m:t>=</m:t>
                      </m:r>
                      <m:nary>
                        <m:naryPr>
                          <m:chr m:val="∑"/>
                          <m:supHide m:val="on"/>
                          <m:ctrlPr>
                            <a:rPr lang="pt-BR" sz="2000" b="0" i="1" smtClean="0">
                              <a:latin typeface="Cambria Math" panose="02040503050406030204" pitchFamily="18" charset="0"/>
                            </a:rPr>
                          </m:ctrlPr>
                        </m:naryPr>
                        <m:sub>
                          <m:r>
                            <a:rPr lang="en-IN" sz="2000" b="0" i="1" smtClean="0">
                              <a:latin typeface="Cambria Math" panose="02040503050406030204" pitchFamily="18" charset="0"/>
                            </a:rPr>
                            <m:t>𝑠</m:t>
                          </m:r>
                          <m:r>
                            <a:rPr lang="en-IN" sz="2000" b="0" i="1" smtClean="0">
                              <a:latin typeface="Cambria Math" panose="02040503050406030204" pitchFamily="18" charset="0"/>
                            </a:rPr>
                            <m:t>′</m:t>
                          </m:r>
                        </m:sub>
                        <m:sup/>
                        <m:e>
                          <m:r>
                            <a:rPr lang="en-IN" sz="2000" b="0" i="1" smtClean="0">
                              <a:latin typeface="Cambria Math" panose="02040503050406030204" pitchFamily="18" charset="0"/>
                            </a:rPr>
                            <m:t>𝑃</m:t>
                          </m:r>
                          <m:d>
                            <m:dPr>
                              <m:ctrlPr>
                                <a:rPr lang="en-IN" sz="2000" b="0" i="1" smtClean="0">
                                  <a:latin typeface="Cambria Math" panose="02040503050406030204" pitchFamily="18" charset="0"/>
                                </a:rPr>
                              </m:ctrlPr>
                            </m:dPr>
                            <m:e>
                              <m:sSup>
                                <m:sSupPr>
                                  <m:ctrlPr>
                                    <a:rPr lang="en-IN" sz="2000" b="0" i="1" smtClean="0">
                                      <a:latin typeface="Cambria Math" panose="02040503050406030204" pitchFamily="18" charset="0"/>
                                    </a:rPr>
                                  </m:ctrlPr>
                                </m:sSupPr>
                                <m:e>
                                  <m:r>
                                    <a:rPr lang="en-IN" sz="2000" b="0" i="1" smtClean="0">
                                      <a:latin typeface="Cambria Math" panose="02040503050406030204" pitchFamily="18" charset="0"/>
                                    </a:rPr>
                                    <m:t>𝑠</m:t>
                                  </m:r>
                                </m:e>
                                <m:sup>
                                  <m:r>
                                    <a:rPr lang="en-IN" sz="2000" b="0" i="1" smtClean="0">
                                      <a:latin typeface="Cambria Math" panose="02040503050406030204" pitchFamily="18" charset="0"/>
                                    </a:rPr>
                                    <m:t>′</m:t>
                                  </m:r>
                                </m:sup>
                              </m:sSup>
                            </m:e>
                            <m:e>
                              <m:r>
                                <a:rPr lang="en-IN" sz="2000" b="0" i="1" smtClean="0">
                                  <a:latin typeface="Cambria Math" panose="02040503050406030204" pitchFamily="18" charset="0"/>
                                </a:rPr>
                                <m:t>𝑎</m:t>
                              </m:r>
                              <m:r>
                                <a:rPr lang="en-IN" sz="2000" b="0" i="1" smtClean="0">
                                  <a:latin typeface="Cambria Math" panose="02040503050406030204" pitchFamily="18" charset="0"/>
                                </a:rPr>
                                <m:t>,</m:t>
                              </m:r>
                              <m:r>
                                <a:rPr lang="en-IN" sz="2000" b="0" i="1" smtClean="0">
                                  <a:latin typeface="Cambria Math" panose="02040503050406030204" pitchFamily="18" charset="0"/>
                                </a:rPr>
                                <m:t>𝑠</m:t>
                              </m:r>
                            </m:e>
                          </m:d>
                          <m:r>
                            <a:rPr lang="en-IN" sz="2000" b="0" i="1" smtClean="0">
                              <a:latin typeface="Cambria Math" panose="02040503050406030204" pitchFamily="18" charset="0"/>
                            </a:rPr>
                            <m:t>𝑈</m:t>
                          </m:r>
                          <m:r>
                            <a:rPr lang="en-IN" sz="2000" b="0" i="1" smtClean="0">
                              <a:latin typeface="Cambria Math" panose="02040503050406030204" pitchFamily="18" charset="0"/>
                            </a:rPr>
                            <m:t>(</m:t>
                          </m:r>
                          <m:r>
                            <a:rPr lang="en-IN" sz="2000" b="0" i="1" smtClean="0">
                              <a:latin typeface="Cambria Math" panose="02040503050406030204" pitchFamily="18" charset="0"/>
                            </a:rPr>
                            <m:t>𝑠</m:t>
                          </m:r>
                          <m:r>
                            <a:rPr lang="en-IN" sz="2000" b="0" i="1" smtClean="0">
                              <a:latin typeface="Cambria Math" panose="02040503050406030204" pitchFamily="18" charset="0"/>
                            </a:rPr>
                            <m:t>)</m:t>
                          </m:r>
                        </m:e>
                      </m:nary>
                    </m:oMath>
                  </m:oMathPara>
                </a14:m>
                <a:endParaRPr lang="en-IN" sz="2000" dirty="0"/>
              </a:p>
            </p:txBody>
          </p:sp>
        </mc:Choice>
        <mc:Fallback>
          <p:sp>
            <p:nvSpPr>
              <p:cNvPr id="4" name="TextBox 3">
                <a:extLst>
                  <a:ext uri="{FF2B5EF4-FFF2-40B4-BE49-F238E27FC236}">
                    <a16:creationId xmlns:a16="http://schemas.microsoft.com/office/drawing/2014/main" id="{AB95A74C-778A-9B5C-AFBA-956D11D31477}"/>
                  </a:ext>
                </a:extLst>
              </p:cNvPr>
              <p:cNvSpPr txBox="1">
                <a:spLocks noRot="1" noChangeAspect="1" noMove="1" noResize="1" noEditPoints="1" noAdjustHandles="1" noChangeArrowheads="1" noChangeShapeType="1" noTextEdit="1"/>
              </p:cNvSpPr>
              <p:nvPr/>
            </p:nvSpPr>
            <p:spPr>
              <a:xfrm>
                <a:off x="2516429" y="3650286"/>
                <a:ext cx="5727801" cy="747192"/>
              </a:xfrm>
              <a:prstGeom prst="rect">
                <a:avLst/>
              </a:prstGeom>
              <a:blipFill>
                <a:blip r:embed="rId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8074245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7E2E0F-7DE7-479B-AE28-6F77D78E64A5}"/>
              </a:ext>
            </a:extLst>
          </p:cNvPr>
          <p:cNvSpPr>
            <a:spLocks noGrp="1"/>
          </p:cNvSpPr>
          <p:nvPr>
            <p:ph idx="1"/>
          </p:nvPr>
        </p:nvSpPr>
        <p:spPr>
          <a:xfrm>
            <a:off x="838200" y="427512"/>
            <a:ext cx="10515600" cy="5749451"/>
          </a:xfrm>
        </p:spPr>
        <p:txBody>
          <a:bodyPr/>
          <a:lstStyle/>
          <a:p>
            <a:r>
              <a:rPr lang="en-IN" dirty="0"/>
              <a:t>Markov Property: The next state depends only on the current state s and the action a, not on the previous states.</a:t>
            </a:r>
          </a:p>
          <a:p>
            <a:r>
              <a:rPr lang="en-IN" dirty="0"/>
              <a:t>A solution to an MDP must specify what action a the agent should take in every state s.</a:t>
            </a:r>
          </a:p>
          <a:p>
            <a:r>
              <a:rPr lang="en-IN" dirty="0"/>
              <a:t>This kind of solution is called a policy </a:t>
            </a:r>
            <a:r>
              <a:rPr lang="el-GR" dirty="0">
                <a:latin typeface="Cambria Math" panose="02040503050406030204" pitchFamily="18" charset="0"/>
                <a:ea typeface="Cambria Math" panose="02040503050406030204" pitchFamily="18" charset="0"/>
              </a:rPr>
              <a:t>π</a:t>
            </a:r>
            <a:r>
              <a:rPr lang="en-IN" dirty="0">
                <a:latin typeface="Cambria Math" panose="02040503050406030204" pitchFamily="18" charset="0"/>
                <a:ea typeface="Cambria Math" panose="02040503050406030204" pitchFamily="18" charset="0"/>
              </a:rPr>
              <a:t>. </a:t>
            </a:r>
            <a:endParaRPr lang="en-IN" b="1" dirty="0"/>
          </a:p>
          <a:p>
            <a:r>
              <a:rPr lang="en-US" dirty="0"/>
              <a:t>An optimal policy is a policy that yields the highest expected utility.</a:t>
            </a:r>
          </a:p>
          <a:p>
            <a:r>
              <a:rPr lang="en-US" dirty="0"/>
              <a:t>Discount factor: The utility of a state sequence is</a:t>
            </a:r>
          </a:p>
          <a:p>
            <a:pPr marL="0" indent="0">
              <a:buNone/>
            </a:pPr>
            <a:endParaRPr lang="en-US" dirty="0"/>
          </a:p>
          <a:p>
            <a:endParaRPr lang="en-IN" dirty="0"/>
          </a:p>
        </p:txBody>
      </p:sp>
      <p:pic>
        <p:nvPicPr>
          <p:cNvPr id="7" name="Picture 6">
            <a:extLst>
              <a:ext uri="{FF2B5EF4-FFF2-40B4-BE49-F238E27FC236}">
                <a16:creationId xmlns:a16="http://schemas.microsoft.com/office/drawing/2014/main" id="{18A98058-9D82-4D52-CE40-2EA3C4D76DDA}"/>
              </a:ext>
            </a:extLst>
          </p:cNvPr>
          <p:cNvPicPr>
            <a:picLocks noChangeAspect="1"/>
          </p:cNvPicPr>
          <p:nvPr/>
        </p:nvPicPr>
        <p:blipFill>
          <a:blip r:embed="rId2"/>
          <a:stretch>
            <a:fillRect/>
          </a:stretch>
        </p:blipFill>
        <p:spPr>
          <a:xfrm>
            <a:off x="712077" y="2867940"/>
            <a:ext cx="8469634" cy="606780"/>
          </a:xfrm>
          <a:prstGeom prst="rect">
            <a:avLst/>
          </a:prstGeom>
        </p:spPr>
      </p:pic>
    </p:spTree>
    <p:extLst>
      <p:ext uri="{BB962C8B-B14F-4D97-AF65-F5344CB8AC3E}">
        <p14:creationId xmlns:p14="http://schemas.microsoft.com/office/powerpoint/2010/main" val="38458415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DD4D7-8D04-5EA8-4E88-5DB603DC7071}"/>
              </a:ext>
            </a:extLst>
          </p:cNvPr>
          <p:cNvSpPr>
            <a:spLocks noGrp="1"/>
          </p:cNvSpPr>
          <p:nvPr>
            <p:ph type="title"/>
          </p:nvPr>
        </p:nvSpPr>
        <p:spPr/>
        <p:txBody>
          <a:bodyPr/>
          <a:lstStyle/>
          <a:p>
            <a:r>
              <a:rPr lang="en-IN" dirty="0"/>
              <a:t>Bellman Equation</a:t>
            </a:r>
          </a:p>
        </p:txBody>
      </p:sp>
      <p:sp>
        <p:nvSpPr>
          <p:cNvPr id="3" name="Content Placeholder 2">
            <a:extLst>
              <a:ext uri="{FF2B5EF4-FFF2-40B4-BE49-F238E27FC236}">
                <a16:creationId xmlns:a16="http://schemas.microsoft.com/office/drawing/2014/main" id="{7C5D4C85-56D4-FC05-98DA-810276E2AB0F}"/>
              </a:ext>
            </a:extLst>
          </p:cNvPr>
          <p:cNvSpPr>
            <a:spLocks noGrp="1"/>
          </p:cNvSpPr>
          <p:nvPr>
            <p:ph idx="1"/>
          </p:nvPr>
        </p:nvSpPr>
        <p:spPr/>
        <p:txBody>
          <a:bodyPr>
            <a:normAutofit/>
          </a:bodyPr>
          <a:lstStyle/>
          <a:p>
            <a:r>
              <a:rPr lang="en-US" dirty="0"/>
              <a:t>The utility of a state is the immediate reward for that state plus the expected discounted utility of the next state, assuming that the agent chooses the optimal action. </a:t>
            </a:r>
          </a:p>
          <a:p>
            <a:pPr marL="0" indent="0">
              <a:buNone/>
            </a:pPr>
            <a:endParaRPr lang="en-US" dirty="0"/>
          </a:p>
          <a:p>
            <a:endParaRPr lang="en-US" dirty="0"/>
          </a:p>
          <a:p>
            <a:endParaRPr lang="en-US" dirty="0"/>
          </a:p>
          <a:p>
            <a:r>
              <a:rPr lang="en-US" dirty="0"/>
              <a:t>One method of finding the optimal policy involves iteratively solving the bellman equation until state utility values converge. Then in a given state the optimal policy will select the action with most expected utility.</a:t>
            </a:r>
          </a:p>
          <a:p>
            <a:pPr marL="0" indent="0">
              <a:buNone/>
            </a:pPr>
            <a:r>
              <a:rPr lang="en-US" dirty="0"/>
              <a:t>  </a:t>
            </a:r>
          </a:p>
          <a:p>
            <a:endParaRPr lang="en-IN" dirty="0"/>
          </a:p>
        </p:txBody>
      </p:sp>
      <p:pic>
        <p:nvPicPr>
          <p:cNvPr id="5" name="Picture 4">
            <a:extLst>
              <a:ext uri="{FF2B5EF4-FFF2-40B4-BE49-F238E27FC236}">
                <a16:creationId xmlns:a16="http://schemas.microsoft.com/office/drawing/2014/main" id="{0990DE88-84FC-F07F-7F8E-EE5A8F192433}"/>
              </a:ext>
            </a:extLst>
          </p:cNvPr>
          <p:cNvPicPr>
            <a:picLocks noChangeAspect="1"/>
          </p:cNvPicPr>
          <p:nvPr/>
        </p:nvPicPr>
        <p:blipFill>
          <a:blip r:embed="rId2"/>
          <a:stretch>
            <a:fillRect/>
          </a:stretch>
        </p:blipFill>
        <p:spPr>
          <a:xfrm>
            <a:off x="750526" y="3338514"/>
            <a:ext cx="6381794" cy="953602"/>
          </a:xfrm>
          <a:prstGeom prst="rect">
            <a:avLst/>
          </a:prstGeom>
        </p:spPr>
      </p:pic>
    </p:spTree>
    <p:extLst>
      <p:ext uri="{BB962C8B-B14F-4D97-AF65-F5344CB8AC3E}">
        <p14:creationId xmlns:p14="http://schemas.microsoft.com/office/powerpoint/2010/main" val="42466708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27625AE-EF54-B44D-CA7E-E720F9D2758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73825" y="1111098"/>
            <a:ext cx="7044350" cy="3881437"/>
          </a:xfrm>
        </p:spPr>
      </p:pic>
    </p:spTree>
    <p:extLst>
      <p:ext uri="{BB962C8B-B14F-4D97-AF65-F5344CB8AC3E}">
        <p14:creationId xmlns:p14="http://schemas.microsoft.com/office/powerpoint/2010/main" val="42012083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9C582-AA01-58C3-6071-D68764CB39E6}"/>
              </a:ext>
            </a:extLst>
          </p:cNvPr>
          <p:cNvSpPr>
            <a:spLocks noGrp="1"/>
          </p:cNvSpPr>
          <p:nvPr>
            <p:ph type="title"/>
          </p:nvPr>
        </p:nvSpPr>
        <p:spPr/>
        <p:txBody>
          <a:bodyPr/>
          <a:lstStyle/>
          <a:p>
            <a:r>
              <a:rPr lang="en-IN" dirty="0"/>
              <a:t>Structured Workflows</a:t>
            </a:r>
          </a:p>
        </p:txBody>
      </p:sp>
      <p:sp>
        <p:nvSpPr>
          <p:cNvPr id="3" name="Content Placeholder 2">
            <a:extLst>
              <a:ext uri="{FF2B5EF4-FFF2-40B4-BE49-F238E27FC236}">
                <a16:creationId xmlns:a16="http://schemas.microsoft.com/office/drawing/2014/main" id="{20058775-09AA-1EF8-BD5D-9B66F9AE55FC}"/>
              </a:ext>
            </a:extLst>
          </p:cNvPr>
          <p:cNvSpPr>
            <a:spLocks noGrp="1"/>
          </p:cNvSpPr>
          <p:nvPr>
            <p:ph idx="1"/>
          </p:nvPr>
        </p:nvSpPr>
        <p:spPr/>
        <p:txBody>
          <a:bodyPr>
            <a:normAutofit/>
          </a:bodyPr>
          <a:lstStyle/>
          <a:p>
            <a:r>
              <a:rPr lang="en-US" dirty="0"/>
              <a:t>The content of different workflow knowledge primarily falls into the following categories: </a:t>
            </a:r>
          </a:p>
          <a:p>
            <a:pPr>
              <a:buFont typeface="+mj-lt"/>
              <a:buAutoNum type="arabicPeriod"/>
            </a:pPr>
            <a:r>
              <a:rPr lang="en-US" dirty="0"/>
              <a:t>	Operation process related, which describes the required steps and their sequential order to complete tasks. </a:t>
            </a:r>
          </a:p>
          <a:p>
            <a:pPr>
              <a:buFont typeface="+mj-lt"/>
              <a:buAutoNum type="arabicPeriod"/>
            </a:pPr>
            <a:r>
              <a:rPr lang="en-US" dirty="0"/>
              <a:t>Condition/rule related, which delineates the actions to be taken when certain conditions or parameters are met.</a:t>
            </a:r>
          </a:p>
          <a:p>
            <a:pPr>
              <a:buFont typeface="+mj-lt"/>
              <a:buAutoNum type="arabicPeriod"/>
            </a:pPr>
            <a:r>
              <a:rPr lang="en-US" dirty="0"/>
              <a:t>	Tool/data related, which contains the utilization techniques for different tools and the mechanisms of data processing.</a:t>
            </a:r>
          </a:p>
          <a:p>
            <a:r>
              <a:rPr lang="en-US" dirty="0"/>
              <a:t>This data could be in the form of text, code, flowcharts etc.</a:t>
            </a:r>
            <a:endParaRPr lang="en-IN" dirty="0"/>
          </a:p>
        </p:txBody>
      </p:sp>
    </p:spTree>
    <p:extLst>
      <p:ext uri="{BB962C8B-B14F-4D97-AF65-F5344CB8AC3E}">
        <p14:creationId xmlns:p14="http://schemas.microsoft.com/office/powerpoint/2010/main" val="32132845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05D88-E97B-0C2D-B31B-A2F1AFF24FB8}"/>
              </a:ext>
            </a:extLst>
          </p:cNvPr>
          <p:cNvSpPr>
            <a:spLocks noGrp="1"/>
          </p:cNvSpPr>
          <p:nvPr>
            <p:ph type="title"/>
          </p:nvPr>
        </p:nvSpPr>
        <p:spPr/>
        <p:txBody>
          <a:bodyPr/>
          <a:lstStyle/>
          <a:p>
            <a:r>
              <a:rPr lang="en-US" dirty="0"/>
              <a:t>References</a:t>
            </a:r>
            <a:endParaRPr lang="en-IN" dirty="0"/>
          </a:p>
        </p:txBody>
      </p:sp>
      <p:sp>
        <p:nvSpPr>
          <p:cNvPr id="3" name="Content Placeholder 2">
            <a:extLst>
              <a:ext uri="{FF2B5EF4-FFF2-40B4-BE49-F238E27FC236}">
                <a16:creationId xmlns:a16="http://schemas.microsoft.com/office/drawing/2014/main" id="{740523C2-4FE2-D08D-0718-EAEEBC861332}"/>
              </a:ext>
            </a:extLst>
          </p:cNvPr>
          <p:cNvSpPr>
            <a:spLocks noGrp="1"/>
          </p:cNvSpPr>
          <p:nvPr>
            <p:ph idx="1"/>
          </p:nvPr>
        </p:nvSpPr>
        <p:spPr/>
        <p:txBody>
          <a:bodyPr>
            <a:normAutofit/>
          </a:bodyPr>
          <a:lstStyle/>
          <a:p>
            <a:r>
              <a:rPr lang="en-US" dirty="0"/>
              <a:t>Sapkota et al., </a:t>
            </a:r>
            <a:r>
              <a:rPr lang="en-US" i="1" dirty="0"/>
              <a:t>AI Agents vs. Agentic AI: A Conceptual Taxonomy, Applications and Challenges</a:t>
            </a:r>
            <a:r>
              <a:rPr lang="en-US" dirty="0"/>
              <a:t>, 2024</a:t>
            </a:r>
          </a:p>
          <a:p>
            <a:r>
              <a:rPr lang="en-IN" dirty="0"/>
              <a:t>Russell &amp; Norvig, </a:t>
            </a:r>
            <a:r>
              <a:rPr lang="en-IN" i="1" dirty="0"/>
              <a:t>Artificial Intelligence: A Modern Approach</a:t>
            </a:r>
            <a:r>
              <a:rPr lang="en-IN" dirty="0"/>
              <a:t>, 3rd ed., 2010</a:t>
            </a:r>
          </a:p>
          <a:p>
            <a:r>
              <a:rPr lang="en-US" dirty="0"/>
              <a:t>Speech and Language Processing. Daniel </a:t>
            </a:r>
            <a:r>
              <a:rPr lang="en-US" dirty="0" err="1"/>
              <a:t>Jurafsky</a:t>
            </a:r>
            <a:r>
              <a:rPr lang="en-US" dirty="0"/>
              <a:t> &amp; James H. Martin.</a:t>
            </a:r>
          </a:p>
          <a:p>
            <a:r>
              <a:rPr lang="en-IN" dirty="0"/>
              <a:t>Xiao, R., Ma, W., Wang, K., Wu, Y., Zhao, J., Wang, H., Huang, F., &amp; Li, Y. (2024). </a:t>
            </a:r>
            <a:r>
              <a:rPr lang="en-IN" i="1" dirty="0" err="1"/>
              <a:t>FlowBench</a:t>
            </a:r>
            <a:r>
              <a:rPr lang="en-IN" i="1" dirty="0"/>
              <a:t>: Revisiting and Benchmarking Workflow-Guided Planning for LLM-based Agents</a:t>
            </a:r>
            <a:r>
              <a:rPr lang="en-IN" dirty="0"/>
              <a:t>. Zhejiang University &amp; Alibaba Group.</a:t>
            </a:r>
          </a:p>
          <a:p>
            <a:r>
              <a:rPr lang="en-IN" dirty="0"/>
              <a:t>Hua, W., Liu, O., Li, L., </a:t>
            </a:r>
            <a:r>
              <a:rPr lang="en-IN" dirty="0" err="1"/>
              <a:t>Amayuelas</a:t>
            </a:r>
            <a:r>
              <a:rPr lang="en-IN" dirty="0"/>
              <a:t>, A., Chen, J., Jiang, L., Jin, M., Fan, L., Sun, F., Wang, W., Wang, X., &amp; Zhang, Y. (2024). </a:t>
            </a:r>
            <a:r>
              <a:rPr lang="en-IN" i="1" dirty="0"/>
              <a:t>Game-theoretic LLM: Agent Workflow for Negotiation Games</a:t>
            </a:r>
            <a:r>
              <a:rPr lang="en-IN" dirty="0"/>
              <a:t>. Rutgers University et al.</a:t>
            </a:r>
          </a:p>
          <a:p>
            <a:endParaRPr lang="en-IN" dirty="0"/>
          </a:p>
        </p:txBody>
      </p:sp>
    </p:spTree>
    <p:extLst>
      <p:ext uri="{BB962C8B-B14F-4D97-AF65-F5344CB8AC3E}">
        <p14:creationId xmlns:p14="http://schemas.microsoft.com/office/powerpoint/2010/main" val="1264161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802E3A-F84D-0380-63FB-9855A8754FF1}"/>
              </a:ext>
            </a:extLst>
          </p:cNvPr>
          <p:cNvSpPr>
            <a:spLocks noGrp="1"/>
          </p:cNvSpPr>
          <p:nvPr>
            <p:ph idx="1"/>
          </p:nvPr>
        </p:nvSpPr>
        <p:spPr>
          <a:xfrm>
            <a:off x="415636" y="391885"/>
            <a:ext cx="11128169" cy="5856329"/>
          </a:xfrm>
        </p:spPr>
        <p:txBody>
          <a:bodyPr/>
          <a:lstStyle/>
          <a:p>
            <a:r>
              <a:rPr lang="en-US" dirty="0" err="1"/>
              <a:t>Kolumbus</a:t>
            </a:r>
            <a:r>
              <a:rPr lang="en-US" dirty="0"/>
              <a:t> &amp; Nisan, </a:t>
            </a:r>
            <a:r>
              <a:rPr lang="en-US" i="1" dirty="0"/>
              <a:t>Auctions between Regret-Minimizing Agents</a:t>
            </a:r>
            <a:r>
              <a:rPr lang="en-US" dirty="0"/>
              <a:t>, </a:t>
            </a:r>
            <a:r>
              <a:rPr lang="en-US" dirty="0" err="1"/>
              <a:t>arXiv</a:t>
            </a:r>
            <a:r>
              <a:rPr lang="en-US" dirty="0"/>
              <a:t>, 2022</a:t>
            </a:r>
            <a:endParaRPr lang="en-IN" dirty="0"/>
          </a:p>
          <a:p>
            <a:r>
              <a:rPr lang="en-IN" dirty="0" err="1"/>
              <a:t>Banchio</a:t>
            </a:r>
            <a:r>
              <a:rPr lang="en-IN" dirty="0"/>
              <a:t> &amp; </a:t>
            </a:r>
            <a:r>
              <a:rPr lang="en-IN" dirty="0" err="1"/>
              <a:t>Skrzypacz</a:t>
            </a:r>
            <a:r>
              <a:rPr lang="en-IN" dirty="0"/>
              <a:t>, </a:t>
            </a:r>
            <a:r>
              <a:rPr lang="en-IN" i="1" dirty="0"/>
              <a:t>Artificial Intelligence and Auction Design</a:t>
            </a:r>
            <a:r>
              <a:rPr lang="en-IN" dirty="0"/>
              <a:t>, </a:t>
            </a:r>
            <a:r>
              <a:rPr lang="en-IN" dirty="0" err="1"/>
              <a:t>arXiv</a:t>
            </a:r>
            <a:r>
              <a:rPr lang="en-IN" dirty="0"/>
              <a:t>, 2022</a:t>
            </a:r>
          </a:p>
          <a:p>
            <a:r>
              <a:rPr lang="en-US" dirty="0"/>
              <a:t>Mao et al., </a:t>
            </a:r>
            <a:r>
              <a:rPr lang="en-US" i="1" dirty="0" err="1"/>
              <a:t>ALYMpics</a:t>
            </a:r>
            <a:r>
              <a:rPr lang="en-US" i="1" dirty="0"/>
              <a:t>: LLM Agents meet Game Theory</a:t>
            </a:r>
            <a:r>
              <a:rPr lang="en-US" dirty="0"/>
              <a:t>, </a:t>
            </a:r>
            <a:r>
              <a:rPr lang="en-US" dirty="0" err="1"/>
              <a:t>arXiv</a:t>
            </a:r>
            <a:r>
              <a:rPr lang="en-US" dirty="0"/>
              <a:t>, 2024</a:t>
            </a:r>
          </a:p>
          <a:p>
            <a:r>
              <a:rPr lang="en-IN" dirty="0"/>
              <a:t>Wei, J., Wang, X., Schuurmans, D., Bosma, M., </a:t>
            </a:r>
            <a:r>
              <a:rPr lang="en-IN" dirty="0" err="1"/>
              <a:t>Ichter</a:t>
            </a:r>
            <a:r>
              <a:rPr lang="en-IN" dirty="0"/>
              <a:t>, B., Xia, F., Chi, E. H., Le, Q. V., &amp; Zhou, D. (2022). </a:t>
            </a:r>
            <a:r>
              <a:rPr lang="en-IN" i="1" dirty="0"/>
              <a:t>Chain-of-Thought Prompting Elicits Reasoning in Large Language Models</a:t>
            </a:r>
            <a:r>
              <a:rPr lang="en-IN" dirty="0"/>
              <a:t>. Google Research, Brain Team.</a:t>
            </a:r>
          </a:p>
          <a:p>
            <a:r>
              <a:rPr lang="en-US" dirty="0"/>
              <a:t>Hu, J., &amp; Wellman, M. P. (2003). </a:t>
            </a:r>
            <a:r>
              <a:rPr lang="en-US" i="1" dirty="0"/>
              <a:t>Nash Q-Learning for General-Sum Stochastic Games</a:t>
            </a:r>
            <a:r>
              <a:rPr lang="en-US" dirty="0"/>
              <a:t>. Journal of Machine Learning Research, 4, 1039–1069.</a:t>
            </a:r>
          </a:p>
          <a:p>
            <a:r>
              <a:rPr lang="en-US" dirty="0"/>
              <a:t>Xu et al., </a:t>
            </a:r>
            <a:r>
              <a:rPr lang="en-US" i="1" dirty="0"/>
              <a:t>Language Agents with Reinforcement Learning for Strategic Play in the Werewolf Game</a:t>
            </a:r>
            <a:r>
              <a:rPr lang="en-US" dirty="0"/>
              <a:t>, </a:t>
            </a:r>
            <a:r>
              <a:rPr lang="en-US" dirty="0" err="1"/>
              <a:t>arXiv</a:t>
            </a:r>
            <a:r>
              <a:rPr lang="en-US" dirty="0"/>
              <a:t>, 2024</a:t>
            </a:r>
          </a:p>
        </p:txBody>
      </p:sp>
    </p:spTree>
    <p:extLst>
      <p:ext uri="{BB962C8B-B14F-4D97-AF65-F5344CB8AC3E}">
        <p14:creationId xmlns:p14="http://schemas.microsoft.com/office/powerpoint/2010/main" val="39298940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099F31-DFF3-1722-0FE4-45CC3AA17E31}"/>
              </a:ext>
            </a:extLst>
          </p:cNvPr>
          <p:cNvSpPr>
            <a:spLocks noGrp="1"/>
          </p:cNvSpPr>
          <p:nvPr>
            <p:ph idx="1"/>
          </p:nvPr>
        </p:nvSpPr>
        <p:spPr>
          <a:xfrm>
            <a:off x="273132" y="332509"/>
            <a:ext cx="11080668" cy="5844454"/>
          </a:xfrm>
        </p:spPr>
        <p:txBody>
          <a:bodyPr>
            <a:normAutofit/>
          </a:bodyPr>
          <a:lstStyle/>
          <a:p>
            <a:r>
              <a:rPr lang="en-US" dirty="0"/>
              <a:t>Wang et al., </a:t>
            </a:r>
            <a:r>
              <a:rPr lang="en-US" i="1" dirty="0"/>
              <a:t>Strategic Chain-of-Thought: Guiding Accurate Reasoning in LLMs through Strategy Elicitation</a:t>
            </a:r>
            <a:r>
              <a:rPr lang="en-US" dirty="0"/>
              <a:t>, </a:t>
            </a:r>
            <a:r>
              <a:rPr lang="en-US" dirty="0" err="1"/>
              <a:t>arXiv</a:t>
            </a:r>
            <a:r>
              <a:rPr lang="en-US" dirty="0"/>
              <a:t>, 2024</a:t>
            </a:r>
          </a:p>
          <a:p>
            <a:r>
              <a:rPr lang="en-US" dirty="0"/>
              <a:t>Gandhi et al., </a:t>
            </a:r>
            <a:r>
              <a:rPr lang="en-US" i="1" dirty="0"/>
              <a:t>Strategic Reasoning with Language Models</a:t>
            </a:r>
            <a:r>
              <a:rPr lang="en-US" dirty="0"/>
              <a:t>, </a:t>
            </a:r>
            <a:r>
              <a:rPr lang="en-US" dirty="0" err="1"/>
              <a:t>arXiv</a:t>
            </a:r>
            <a:r>
              <a:rPr lang="en-US" dirty="0"/>
              <a:t>, 2023</a:t>
            </a:r>
          </a:p>
          <a:p>
            <a:r>
              <a:rPr lang="en-IN" dirty="0"/>
              <a:t>De La Fuente et al., </a:t>
            </a:r>
            <a:r>
              <a:rPr lang="en-IN" i="1" dirty="0"/>
              <a:t>Game Theory and Multi-Agent Reinforcement Learning: From Nash Equilibria to Evolutionary Dynamics</a:t>
            </a:r>
            <a:r>
              <a:rPr lang="en-IN" dirty="0"/>
              <a:t>, </a:t>
            </a:r>
            <a:r>
              <a:rPr lang="en-IN" dirty="0" err="1"/>
              <a:t>arXiv</a:t>
            </a:r>
            <a:r>
              <a:rPr lang="en-IN" dirty="0"/>
              <a:t>, 2024</a:t>
            </a:r>
          </a:p>
          <a:p>
            <a:r>
              <a:rPr lang="en-US" dirty="0"/>
              <a:t>Zhang et al., </a:t>
            </a:r>
            <a:r>
              <a:rPr lang="en-US" i="1" dirty="0"/>
              <a:t>LLM as a Mastermind: A Survey of Strategic Reasoning with Large Language Models</a:t>
            </a:r>
            <a:r>
              <a:rPr lang="en-US" dirty="0"/>
              <a:t>, </a:t>
            </a:r>
            <a:r>
              <a:rPr lang="en-US" dirty="0" err="1"/>
              <a:t>arXiv</a:t>
            </a:r>
            <a:r>
              <a:rPr lang="en-US" dirty="0"/>
              <a:t>, 2024</a:t>
            </a:r>
          </a:p>
          <a:p>
            <a:r>
              <a:rPr lang="en-IN" dirty="0" err="1"/>
              <a:t>Banchio</a:t>
            </a:r>
            <a:r>
              <a:rPr lang="en-IN" dirty="0"/>
              <a:t>, M., &amp; </a:t>
            </a:r>
            <a:r>
              <a:rPr lang="en-IN" dirty="0" err="1"/>
              <a:t>Skrzypacz</a:t>
            </a:r>
            <a:r>
              <a:rPr lang="en-IN" dirty="0"/>
              <a:t>, A. (2022). </a:t>
            </a:r>
            <a:r>
              <a:rPr lang="en-IN" i="1" dirty="0"/>
              <a:t>Artificial Intelligence and Auction Design</a:t>
            </a:r>
            <a:r>
              <a:rPr lang="en-IN" dirty="0"/>
              <a:t>. </a:t>
            </a:r>
            <a:r>
              <a:rPr lang="en-IN" dirty="0" err="1"/>
              <a:t>arXiv</a:t>
            </a:r>
            <a:r>
              <a:rPr lang="en-IN" dirty="0"/>
              <a:t> preprint arXiv:2202.05947.</a:t>
            </a:r>
            <a:endParaRPr lang="en-US" dirty="0"/>
          </a:p>
          <a:p>
            <a:r>
              <a:rPr lang="en-US" dirty="0" err="1"/>
              <a:t>Kolumbus</a:t>
            </a:r>
            <a:r>
              <a:rPr lang="en-US" dirty="0"/>
              <a:t>, Y., &amp; Nisan, N. (2022). </a:t>
            </a:r>
            <a:r>
              <a:rPr lang="en-US" i="1" dirty="0"/>
              <a:t>Auctions between Regret-Minimizing Agents</a:t>
            </a:r>
            <a:r>
              <a:rPr lang="en-US" dirty="0"/>
              <a:t>. </a:t>
            </a:r>
            <a:r>
              <a:rPr lang="en-US" dirty="0" err="1"/>
              <a:t>arXiv</a:t>
            </a:r>
            <a:r>
              <a:rPr lang="en-US" dirty="0"/>
              <a:t> preprint arXiv:2110.11855.</a:t>
            </a:r>
            <a:endParaRPr lang="en-IN" dirty="0"/>
          </a:p>
        </p:txBody>
      </p:sp>
    </p:spTree>
    <p:extLst>
      <p:ext uri="{BB962C8B-B14F-4D97-AF65-F5344CB8AC3E}">
        <p14:creationId xmlns:p14="http://schemas.microsoft.com/office/powerpoint/2010/main" val="2050114190"/>
      </p:ext>
    </p:extLst>
  </p:cSld>
  <p:clrMapOvr>
    <a:masterClrMapping/>
  </p:clrMapOvr>
</p:sld>
</file>

<file path=ppt/theme/theme1.xml><?xml version="1.0" encoding="utf-8"?>
<a:theme xmlns:a="http://schemas.openxmlformats.org/drawingml/2006/main" name="Facet">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TM10001115[[fn=Parcel]]</Template>
  <TotalTime>7584</TotalTime>
  <Words>1979</Words>
  <Application>Microsoft Office PowerPoint</Application>
  <PresentationFormat>Widescreen</PresentationFormat>
  <Paragraphs>140</Paragraphs>
  <Slides>28</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Arial</vt:lpstr>
      <vt:lpstr>Calibri</vt:lpstr>
      <vt:lpstr>Cambria Math</vt:lpstr>
      <vt:lpstr>IBM Plex Sans</vt:lpstr>
      <vt:lpstr>NVIDIA-APAC</vt:lpstr>
      <vt:lpstr>Trebuchet MS</vt:lpstr>
      <vt:lpstr>Wingdings 3</vt:lpstr>
      <vt:lpstr>Facet</vt:lpstr>
      <vt:lpstr>Agentic AI and Game Theory</vt:lpstr>
      <vt:lpstr>What is an Agent?</vt:lpstr>
      <vt:lpstr>What is Agentic AI?</vt:lpstr>
      <vt:lpstr>LLMs as AI Agents</vt:lpstr>
      <vt:lpstr>Core Architectural Components of AI Agents</vt:lpstr>
      <vt:lpstr>Transformers: The Engine Behind Large Language Models</vt:lpstr>
      <vt:lpstr>Architecture of the Attention Head</vt:lpstr>
      <vt:lpstr>PowerPoint Presentation</vt:lpstr>
      <vt:lpstr>Game Theory and Agentic AI</vt:lpstr>
      <vt:lpstr>Can LLMs play classic strategy games</vt:lpstr>
      <vt:lpstr>Understanding LLM performance with Game Theory</vt:lpstr>
      <vt:lpstr>Algorithmic Innovation</vt:lpstr>
      <vt:lpstr>Agentic AI use in Auctions</vt:lpstr>
      <vt:lpstr>Strategic Language Agents in Werewolf</vt:lpstr>
      <vt:lpstr>Game-Theoretic Workflow Design </vt:lpstr>
      <vt:lpstr>PowerPoint Presentation</vt:lpstr>
      <vt:lpstr>Chain of Thought Prompting</vt:lpstr>
      <vt:lpstr>Conclusion</vt:lpstr>
      <vt:lpstr>Appendix</vt:lpstr>
      <vt:lpstr>Markov Decision Process</vt:lpstr>
      <vt:lpstr>Utility Function</vt:lpstr>
      <vt:lpstr>PowerPoint Presentation</vt:lpstr>
      <vt:lpstr>Bellman Equation</vt:lpstr>
      <vt:lpstr>PowerPoint Presentation</vt:lpstr>
      <vt:lpstr>Structured Workflows</vt:lpstr>
      <vt:lpstr>References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Rishi Bharadwaj</dc:creator>
  <cp:lastModifiedBy>Rishi Bharadwaj</cp:lastModifiedBy>
  <cp:revision>50</cp:revision>
  <dcterms:created xsi:type="dcterms:W3CDTF">2025-05-21T15:54:30Z</dcterms:created>
  <dcterms:modified xsi:type="dcterms:W3CDTF">2025-06-02T05:16:21Z</dcterms:modified>
</cp:coreProperties>
</file>